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딥리서치 방법론  ·  RESEARCH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기반 BioSpero 분석 워크플로우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2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Claude Max 환경에서 단계별로 다른 MCP를 조합해 가설을 분해하고, 1차 자료를 직접 수집·교차 검증한 뒤 산출물로 변환한 BioSpero 실제 리서치 과정.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157276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1572768" cy="3657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624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STEP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질문 분해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DECOMPOSE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1389888" cy="10973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77440"/>
            <a:ext cx="822960" cy="18288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자료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바이오 섹터 배경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투자 가설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822960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358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MCP 활용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Sequential Thinking MCP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8단계 추론 · 동인 분해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822960" cy="18288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941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투입 질문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39044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비임상 시장이 열리는가?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OoC 기술 우위인가?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BM·진입 국가는?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943100" y="2761488"/>
            <a:ext cx="128016" cy="182880"/>
          </a:xfrm>
          <a:prstGeom prst="rightArrow">
            <a:avLst/>
          </a:prstGeom>
          <a:solidFill>
            <a:srgbClr val="1C69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075688" y="1298448"/>
            <a:ext cx="157276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5688" y="1298448"/>
            <a:ext cx="1572768" cy="3657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4" name="Text 22"/>
          <p:cNvSpPr/>
          <p:nvPr/>
        </p:nvSpPr>
        <p:spPr>
          <a:xfrm>
            <a:off x="2121408" y="13624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STEP 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67128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멀티소스 수집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67128" y="204825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COLLECT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67128" y="2267712"/>
            <a:ext cx="1389888" cy="10973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28" name="Shape 26"/>
          <p:cNvSpPr/>
          <p:nvPr/>
        </p:nvSpPr>
        <p:spPr>
          <a:xfrm>
            <a:off x="2167128" y="2377440"/>
            <a:ext cx="822960" cy="18288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7"/>
          <p:cNvSpPr/>
          <p:nvPr/>
        </p:nvSpPr>
        <p:spPr>
          <a:xfrm>
            <a:off x="2167128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자료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167128" y="258775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· MFDS · 논문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IR · 시장 보고서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67128" y="3035808"/>
            <a:ext cx="822960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32" name="Text 30"/>
          <p:cNvSpPr/>
          <p:nvPr/>
        </p:nvSpPr>
        <p:spPr>
          <a:xfrm>
            <a:off x="2167128" y="30358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MCP 활용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167128" y="32461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Playwright → PubMed 2,134건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Firecrawl → FDA Act 2.0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2167128" y="3694176"/>
            <a:ext cx="822960" cy="18288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35" name="Text 33"/>
          <p:cNvSpPr/>
          <p:nvPr/>
        </p:nvSpPr>
        <p:spPr>
          <a:xfrm>
            <a:off x="2167128" y="36941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투입 질문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67128" y="39044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FDA Act 2.0 원문 명시?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한국 OoC 점유율?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MFDS 대체 허용 범위?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653028" y="2761488"/>
            <a:ext cx="128016" cy="182880"/>
          </a:xfrm>
          <a:prstGeom prst="rightArrow">
            <a:avLst/>
          </a:prstGeom>
          <a:solidFill>
            <a:srgbClr val="1C69D4"/>
          </a:solidFill>
          <a:ln/>
        </p:spPr>
      </p:sp>
      <p:sp>
        <p:nvSpPr>
          <p:cNvPr id="38" name="Shape 36"/>
          <p:cNvSpPr/>
          <p:nvPr/>
        </p:nvSpPr>
        <p:spPr>
          <a:xfrm>
            <a:off x="3785616" y="1298448"/>
            <a:ext cx="157276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85616" y="1298448"/>
            <a:ext cx="1572768" cy="3657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0" name="Text 38"/>
          <p:cNvSpPr/>
          <p:nvPr/>
        </p:nvSpPr>
        <p:spPr>
          <a:xfrm>
            <a:off x="3831336" y="13624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STEP 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877056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교차 검증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877056" y="204825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VALIDATE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77056" y="2267712"/>
            <a:ext cx="1389888" cy="10973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44" name="Shape 42"/>
          <p:cNvSpPr/>
          <p:nvPr/>
        </p:nvSpPr>
        <p:spPr>
          <a:xfrm>
            <a:off x="3877056" y="2377440"/>
            <a:ext cx="822960" cy="18288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5" name="Text 43"/>
          <p:cNvSpPr/>
          <p:nvPr/>
        </p:nvSpPr>
        <p:spPr>
          <a:xfrm>
            <a:off x="3877056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자료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877056" y="258775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1차 데이터 포인트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(수치 · 인용 · 일자)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77056" y="3035808"/>
            <a:ext cx="822960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48" name="Text 46"/>
          <p:cNvSpPr/>
          <p:nvPr/>
        </p:nvSpPr>
        <p:spPr>
          <a:xfrm>
            <a:off x="3877056" y="30358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MCP 활용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877056" y="32461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Firecrawl 보조 출처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Seq. Thinking 모순 탐지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3877056" y="3694176"/>
            <a:ext cx="822960" cy="18288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1" name="Text 49"/>
          <p:cNvSpPr/>
          <p:nvPr/>
        </p:nvSpPr>
        <p:spPr>
          <a:xfrm>
            <a:off x="3877056" y="36941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투입 질문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877056" y="39044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임상 실패율 출처 일치?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시장 규모 4개 합의?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BioSpero IR vs 외부?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362956" y="2761488"/>
            <a:ext cx="128016" cy="182880"/>
          </a:xfrm>
          <a:prstGeom prst="rightArrow">
            <a:avLst/>
          </a:prstGeom>
          <a:solidFill>
            <a:srgbClr val="1C69D4"/>
          </a:solidFill>
          <a:ln/>
        </p:spPr>
      </p:sp>
      <p:sp>
        <p:nvSpPr>
          <p:cNvPr id="54" name="Shape 52"/>
          <p:cNvSpPr/>
          <p:nvPr/>
        </p:nvSpPr>
        <p:spPr>
          <a:xfrm>
            <a:off x="5495544" y="1298448"/>
            <a:ext cx="157276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95544" y="1298448"/>
            <a:ext cx="1572768" cy="3657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6" name="Text 54"/>
          <p:cNvSpPr/>
          <p:nvPr/>
        </p:nvSpPr>
        <p:spPr>
          <a:xfrm>
            <a:off x="5541264" y="13624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STEP 04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586984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인사이트 종합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586984" y="204825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SYNTHESIZE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586984" y="2267712"/>
            <a:ext cx="1389888" cy="10973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60" name="Shape 58"/>
          <p:cNvSpPr/>
          <p:nvPr/>
        </p:nvSpPr>
        <p:spPr>
          <a:xfrm>
            <a:off x="5586984" y="2377440"/>
            <a:ext cx="822960" cy="18288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61" name="Text 59"/>
          <p:cNvSpPr/>
          <p:nvPr/>
        </p:nvSpPr>
        <p:spPr>
          <a:xfrm>
            <a:off x="5586984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자료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586984" y="258775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 데이터 · 가설 트리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경쟁 매트릭스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586984" y="3035808"/>
            <a:ext cx="822960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64" name="Text 62"/>
          <p:cNvSpPr/>
          <p:nvPr/>
        </p:nvSpPr>
        <p:spPr>
          <a:xfrm>
            <a:off x="5586984" y="30358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MCP 활용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586984" y="32461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Sequential Thinking MCP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화이트스페이스 · 트리거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5586984" y="3694176"/>
            <a:ext cx="822960" cy="18288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67" name="Text 65"/>
          <p:cNvSpPr/>
          <p:nvPr/>
        </p:nvSpPr>
        <p:spPr>
          <a:xfrm>
            <a:off x="5586984" y="36941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투입 질문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586984" y="39044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글로벌 리더 공백 영역?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단독 점유 가능 백지?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투자 트리거 6가지?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7072884" y="2761488"/>
            <a:ext cx="128016" cy="182880"/>
          </a:xfrm>
          <a:prstGeom prst="rightArrow">
            <a:avLst/>
          </a:prstGeom>
          <a:solidFill>
            <a:srgbClr val="1C69D4"/>
          </a:solidFill>
          <a:ln/>
        </p:spPr>
      </p:sp>
      <p:sp>
        <p:nvSpPr>
          <p:cNvPr id="70" name="Shape 68"/>
          <p:cNvSpPr/>
          <p:nvPr/>
        </p:nvSpPr>
        <p:spPr>
          <a:xfrm>
            <a:off x="7205472" y="1298448"/>
            <a:ext cx="157276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05472" y="1298448"/>
            <a:ext cx="1572768" cy="3657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2" name="Text 70"/>
          <p:cNvSpPr/>
          <p:nvPr/>
        </p:nvSpPr>
        <p:spPr>
          <a:xfrm>
            <a:off x="7251192" y="136245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STEP 05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296912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산출물 변환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296912" y="204825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TRANSLATE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296912" y="2267712"/>
            <a:ext cx="1389888" cy="10973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76" name="Shape 74"/>
          <p:cNvSpPr/>
          <p:nvPr/>
        </p:nvSpPr>
        <p:spPr>
          <a:xfrm>
            <a:off x="7296912" y="2377440"/>
            <a:ext cx="822960" cy="18288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77" name="Text 75"/>
          <p:cNvSpPr/>
          <p:nvPr/>
        </p:nvSpPr>
        <p:spPr>
          <a:xfrm>
            <a:off x="7296912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입력 자료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296912" y="2587752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인사이트 · 청중 정의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(투자위원회 · 내부)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296912" y="3035808"/>
            <a:ext cx="822960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80" name="Text 78"/>
          <p:cNvSpPr/>
          <p:nvPr/>
        </p:nvSpPr>
        <p:spPr>
          <a:xfrm>
            <a:off x="7296912" y="30358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MCP 활용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7296912" y="32461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Cowork pptxgenjs · docx-js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PPT 13장 + 28p 보고서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7296912" y="3694176"/>
            <a:ext cx="822960" cy="18288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83" name="Text 81"/>
          <p:cNvSpPr/>
          <p:nvPr/>
        </p:nvSpPr>
        <p:spPr>
          <a:xfrm>
            <a:off x="7296912" y="36941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투입 질문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296912" y="390448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청중별 핵심 메시지?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슬라이드 13장 구성?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Q. 보고서 28p 섹션?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CEEEE"/>
          </a:solidFill>
          <a:ln/>
        </p:spPr>
      </p:sp>
      <p:sp>
        <p:nvSpPr>
          <p:cNvPr id="86" name="Shape 84"/>
          <p:cNvSpPr/>
          <p:nvPr/>
        </p:nvSpPr>
        <p:spPr>
          <a:xfrm>
            <a:off x="365760" y="4526280"/>
            <a:ext cx="54864" cy="45720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87" name="Text 85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핵심메세지   </a:t>
            </a:r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단계마다 다른 MCP를 </a:t>
            </a:r>
            <a:pPr indent="0" marL="0">
              <a:buNone/>
            </a:pPr>
            <a:r>
              <a:rPr lang="en-US" sz="110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조합·교차 검증</a:t>
            </a:r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하여 LLM 단독의 "환각 응답"이 아닌 1차 자료 기반의 "검증된 의사결정 입력"을 산출한다.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2026-05-09T06:24:33Z</dcterms:created>
  <dcterms:modified xsi:type="dcterms:W3CDTF">2026-05-09T06:24:33Z</dcterms:modified>
</cp:coreProperties>
</file>