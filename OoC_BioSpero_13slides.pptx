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0"/>
            <a:ext cx="45720" cy="5143500"/>
          </a:xfrm>
          <a:prstGeom prst="rect">
            <a:avLst/>
          </a:prstGeom>
          <a:solidFill>
            <a:srgbClr val="1C69D4"/>
          </a:solidFill>
          <a:ln/>
        </p:spPr>
      </p:sp>
      <p:pic>
        <p:nvPicPr>
          <p:cNvPr id="5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65760"/>
            <a:ext cx="1188720" cy="4480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005840"/>
            <a:ext cx="1005840" cy="7315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BIOSPERO · GLOBAL STRATEGY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7315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Organ-on-Chip의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글로벌 진출 전략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731520" y="3017520"/>
            <a:ext cx="329184" cy="228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31272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(주)바이오스페로 — 비임상 플랫폼 사업 해외진출전략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4015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Why Now · Why BioSpero · Go-Global · Growth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1520" y="3931920"/>
            <a:ext cx="960120" cy="274320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" y="3931920"/>
            <a:ext cx="36576" cy="27432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3931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MARKET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783080" y="3931920"/>
            <a:ext cx="1280160" cy="274320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6" name="Shape 13"/>
          <p:cNvSpPr/>
          <p:nvPr/>
        </p:nvSpPr>
        <p:spPr>
          <a:xfrm>
            <a:off x="1783080" y="3931920"/>
            <a:ext cx="36576" cy="27432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874520" y="3931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154680" y="3931920"/>
            <a:ext cx="777240" cy="274320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9" name="Shape 16"/>
          <p:cNvSpPr/>
          <p:nvPr/>
        </p:nvSpPr>
        <p:spPr>
          <a:xfrm>
            <a:off x="3154680" y="3931920"/>
            <a:ext cx="36576" cy="27432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246120" y="3931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FDA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023360" y="3931920"/>
            <a:ext cx="1097280" cy="274320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4023360" y="3931920"/>
            <a:ext cx="36576" cy="27432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114800" y="3931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PLATFORM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0" y="4617720"/>
            <a:ext cx="9144000" cy="25603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31520" y="47183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발표자: Ran Kim · Head of Scale-up · Gravity Ventures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7680960" y="47183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01 · DRUG DEVELOPMENT BASICS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30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비임상이란 무엇인가 — 신약개발 12년의 흐름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32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후보물질 발굴부터 시판까지 5단계 · 비임상은 임상 직전의 "안전성 검증" 게이트</a:t>
            </a:r>
            <a:endParaRPr lang="en-US" sz="1000" dirty="0"/>
          </a:p>
        </p:txBody>
      </p:sp>
      <p:pic>
        <p:nvPicPr>
          <p:cNvPr id="6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"/>
            <a:ext cx="1188720" cy="448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207008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07008"/>
            <a:ext cx="457200" cy="16459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4901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BioSpero · Global Strategy 2026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02 / 13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1480" y="1417320"/>
            <a:ext cx="1532534" cy="1325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11480" y="1417320"/>
            <a:ext cx="1532534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9496" y="15453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39496" y="1801368"/>
            <a:ext cx="12765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DISCOVERY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539496" y="1984248"/>
            <a:ext cx="1276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후보물질 발굴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39496" y="2276856"/>
            <a:ext cx="365760" cy="10973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39496" y="2295144"/>
            <a:ext cx="12765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1–2년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39496" y="2478024"/>
            <a:ext cx="1276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수만 개 화합물 →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수백 개 후보 선별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1962302" y="1933956"/>
            <a:ext cx="128016" cy="292608"/>
          </a:xfrm>
          <a:prstGeom prst="chevron">
            <a:avLst/>
          </a:prstGeom>
          <a:solidFill>
            <a:srgbClr val="1C69D4"/>
          </a:solidFill>
          <a:ln/>
        </p:spPr>
      </p:sp>
      <p:sp>
        <p:nvSpPr>
          <p:cNvPr id="21" name="Shape 18"/>
          <p:cNvSpPr/>
          <p:nvPr/>
        </p:nvSpPr>
        <p:spPr>
          <a:xfrm>
            <a:off x="2108606" y="1417320"/>
            <a:ext cx="1532534" cy="1325880"/>
          </a:xfrm>
          <a:prstGeom prst="rect">
            <a:avLst/>
          </a:prstGeom>
          <a:solidFill>
            <a:srgbClr val="FCE7E6"/>
          </a:solidFill>
          <a:ln/>
        </p:spPr>
      </p:sp>
      <p:sp>
        <p:nvSpPr>
          <p:cNvPr id="22" name="Shape 19"/>
          <p:cNvSpPr/>
          <p:nvPr/>
        </p:nvSpPr>
        <p:spPr>
          <a:xfrm>
            <a:off x="2108606" y="1417320"/>
            <a:ext cx="1532534" cy="36576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236622" y="15453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2718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02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236622" y="1801368"/>
            <a:ext cx="12765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NONCLINICAL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2236622" y="1984248"/>
            <a:ext cx="1276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2718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비임상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236622" y="2276856"/>
            <a:ext cx="365760" cy="10973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236622" y="2295144"/>
            <a:ext cx="12765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2–3년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2236622" y="2478024"/>
            <a:ext cx="1276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동물·세포·시뮬레이션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안전성·효능 검증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3659429" y="1933956"/>
            <a:ext cx="128016" cy="292608"/>
          </a:xfrm>
          <a:prstGeom prst="chevron">
            <a:avLst/>
          </a:prstGeom>
          <a:solidFill>
            <a:srgbClr val="1C69D4"/>
          </a:solidFill>
          <a:ln/>
        </p:spPr>
      </p:sp>
      <p:sp>
        <p:nvSpPr>
          <p:cNvPr id="30" name="Shape 27"/>
          <p:cNvSpPr/>
          <p:nvPr/>
        </p:nvSpPr>
        <p:spPr>
          <a:xfrm>
            <a:off x="3805733" y="1417320"/>
            <a:ext cx="1532534" cy="1325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Shape 28"/>
          <p:cNvSpPr/>
          <p:nvPr/>
        </p:nvSpPr>
        <p:spPr>
          <a:xfrm>
            <a:off x="3805733" y="1417320"/>
            <a:ext cx="1532534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3933749" y="15453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03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3933749" y="1801368"/>
            <a:ext cx="12765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CLINICAL</a:t>
            </a:r>
            <a:endParaRPr lang="en-US" sz="750" dirty="0"/>
          </a:p>
        </p:txBody>
      </p:sp>
      <p:sp>
        <p:nvSpPr>
          <p:cNvPr id="34" name="Text 31"/>
          <p:cNvSpPr txBox="1"/>
          <p:nvPr/>
        </p:nvSpPr>
        <p:spPr>
          <a:xfrm>
            <a:off x="3933749" y="1984248"/>
            <a:ext cx="1276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임상 1·2·3상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3933749" y="2276856"/>
            <a:ext cx="365760" cy="10973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933749" y="2295144"/>
            <a:ext cx="12765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5–7년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3933749" y="2478024"/>
            <a:ext cx="1276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사람 대상 시험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수십 → 수천 명 단계 확장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356555" y="1933956"/>
            <a:ext cx="128016" cy="292608"/>
          </a:xfrm>
          <a:prstGeom prst="chevron">
            <a:avLst/>
          </a:prstGeom>
          <a:solidFill>
            <a:srgbClr val="1C69D4"/>
          </a:solidFill>
          <a:ln/>
        </p:spPr>
      </p:sp>
      <p:sp>
        <p:nvSpPr>
          <p:cNvPr id="39" name="Shape 36"/>
          <p:cNvSpPr/>
          <p:nvPr/>
        </p:nvSpPr>
        <p:spPr>
          <a:xfrm>
            <a:off x="5502859" y="1417320"/>
            <a:ext cx="1532534" cy="1325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Shape 37"/>
          <p:cNvSpPr/>
          <p:nvPr/>
        </p:nvSpPr>
        <p:spPr>
          <a:xfrm>
            <a:off x="5502859" y="1417320"/>
            <a:ext cx="1532534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630875" y="15453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04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5630875" y="1801368"/>
            <a:ext cx="12765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REVIEW</a:t>
            </a:r>
            <a:endParaRPr lang="en-US" sz="750" dirty="0"/>
          </a:p>
        </p:txBody>
      </p:sp>
      <p:sp>
        <p:nvSpPr>
          <p:cNvPr id="43" name="Text 40"/>
          <p:cNvSpPr txBox="1"/>
          <p:nvPr/>
        </p:nvSpPr>
        <p:spPr>
          <a:xfrm>
            <a:off x="5630875" y="1984248"/>
            <a:ext cx="1276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허가 심사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630875" y="2276856"/>
            <a:ext cx="365760" cy="10973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5630875" y="2295144"/>
            <a:ext cx="12765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1–2년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5630875" y="2478024"/>
            <a:ext cx="1276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FDA·식약처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품목허가 신청 · 심사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7053682" y="1933956"/>
            <a:ext cx="128016" cy="292608"/>
          </a:xfrm>
          <a:prstGeom prst="chevron">
            <a:avLst/>
          </a:prstGeom>
          <a:solidFill>
            <a:srgbClr val="1C69D4"/>
          </a:solidFill>
          <a:ln/>
        </p:spPr>
      </p:sp>
      <p:sp>
        <p:nvSpPr>
          <p:cNvPr id="48" name="Shape 45"/>
          <p:cNvSpPr/>
          <p:nvPr/>
        </p:nvSpPr>
        <p:spPr>
          <a:xfrm>
            <a:off x="7199986" y="1417320"/>
            <a:ext cx="1532534" cy="1325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Shape 46"/>
          <p:cNvSpPr/>
          <p:nvPr/>
        </p:nvSpPr>
        <p:spPr>
          <a:xfrm>
            <a:off x="7199986" y="1417320"/>
            <a:ext cx="1532534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7328002" y="15453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05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7328002" y="1801368"/>
            <a:ext cx="12765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MARKET</a:t>
            </a:r>
            <a:endParaRPr lang="en-US" sz="750" dirty="0"/>
          </a:p>
        </p:txBody>
      </p:sp>
      <p:sp>
        <p:nvSpPr>
          <p:cNvPr id="52" name="Text 49"/>
          <p:cNvSpPr txBox="1"/>
          <p:nvPr/>
        </p:nvSpPr>
        <p:spPr>
          <a:xfrm>
            <a:off x="7328002" y="1984248"/>
            <a:ext cx="1276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시판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7328002" y="2276856"/>
            <a:ext cx="365760" cy="10973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7328002" y="2295144"/>
            <a:ext cx="12765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—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7328002" y="2478024"/>
            <a:ext cx="1276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약국·병원 처방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시판 후 부작용 모니터링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411480" y="2926080"/>
            <a:ext cx="4069080" cy="141732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57" name="Shape 54"/>
          <p:cNvSpPr/>
          <p:nvPr/>
        </p:nvSpPr>
        <p:spPr>
          <a:xfrm>
            <a:off x="411480" y="2926080"/>
            <a:ext cx="4069080" cy="36576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594360" y="3035808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비임상 · NONCLINICAL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321868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사람에게 투여하기 전 단계의 안전성·효능 검증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594360" y="349300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구성: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동물실험 + in vitro(시험관) + in silico(컴퓨터)</a:t>
            </a:r>
            <a:endParaRPr lang="en-US" sz="900" dirty="0"/>
          </a:p>
        </p:txBody>
      </p:sp>
      <p:sp>
        <p:nvSpPr>
          <p:cNvPr id="61" name="Text 58"/>
          <p:cNvSpPr txBox="1"/>
          <p:nvPr/>
        </p:nvSpPr>
        <p:spPr>
          <a:xfrm>
            <a:off x="594360" y="371246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BioSpero 활동 영역 —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Organ-on-Chip은 </a:t>
            </a:r>
            <a:pPr indent="0" marL="0">
              <a:buNone/>
            </a:pPr>
            <a:r>
              <a:rPr lang="en-US" sz="90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동물실험 대체기술</a:t>
            </a:r>
            <a:endParaRPr lang="en-US" sz="900" dirty="0"/>
          </a:p>
        </p:txBody>
      </p:sp>
      <p:sp>
        <p:nvSpPr>
          <p:cNvPr id="62" name="Text 59"/>
          <p:cNvSpPr txBox="1"/>
          <p:nvPr/>
        </p:nvSpPr>
        <p:spPr>
          <a:xfrm>
            <a:off x="594360" y="398678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CE7F5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왜 중요한가 — 비임상 정확도가 임상 성공률을 결정한다 (현재 임상 실패율 93%)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4663440" y="2926080"/>
            <a:ext cx="4069080" cy="1417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4" name="Shape 61"/>
          <p:cNvSpPr/>
          <p:nvPr/>
        </p:nvSpPr>
        <p:spPr>
          <a:xfrm>
            <a:off x="4663440" y="2926080"/>
            <a:ext cx="4069080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4846320" y="3035808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임상 · CLINICAL</a:t>
            </a:r>
            <a:endParaRPr lang="en-US" sz="900" dirty="0"/>
          </a:p>
        </p:txBody>
      </p:sp>
      <p:sp>
        <p:nvSpPr>
          <p:cNvPr id="66" name="Text 63"/>
          <p:cNvSpPr txBox="1"/>
          <p:nvPr/>
        </p:nvSpPr>
        <p:spPr>
          <a:xfrm>
            <a:off x="4846320" y="321868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사람을 대상으로 직접 시험하는 단계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4846320" y="3529584"/>
            <a:ext cx="118567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hape 65"/>
          <p:cNvSpPr/>
          <p:nvPr/>
        </p:nvSpPr>
        <p:spPr>
          <a:xfrm>
            <a:off x="4846320" y="3529584"/>
            <a:ext cx="36576" cy="713232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4937760" y="3566160"/>
            <a:ext cx="1039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1상</a:t>
            </a:r>
            <a:endParaRPr lang="en-US" sz="1000" dirty="0"/>
          </a:p>
        </p:txBody>
      </p:sp>
      <p:sp>
        <p:nvSpPr>
          <p:cNvPr id="70" name="Text 67"/>
          <p:cNvSpPr txBox="1"/>
          <p:nvPr/>
        </p:nvSpPr>
        <p:spPr>
          <a:xfrm>
            <a:off x="4937760" y="3767328"/>
            <a:ext cx="1039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20~100명</a:t>
            </a:r>
            <a:endParaRPr lang="en-US" sz="900" dirty="0"/>
          </a:p>
        </p:txBody>
      </p:sp>
      <p:sp>
        <p:nvSpPr>
          <p:cNvPr id="71" name="Text 68"/>
          <p:cNvSpPr txBox="1"/>
          <p:nvPr/>
        </p:nvSpPr>
        <p:spPr>
          <a:xfrm>
            <a:off x="4937760" y="3950208"/>
            <a:ext cx="1039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안전성·용량</a:t>
            </a:r>
            <a:endParaRPr lang="en-US" sz="800" dirty="0"/>
          </a:p>
        </p:txBody>
      </p:sp>
      <p:sp>
        <p:nvSpPr>
          <p:cNvPr id="72" name="Shape 69"/>
          <p:cNvSpPr/>
          <p:nvPr/>
        </p:nvSpPr>
        <p:spPr>
          <a:xfrm>
            <a:off x="6105144" y="3529584"/>
            <a:ext cx="118567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hape 70"/>
          <p:cNvSpPr/>
          <p:nvPr/>
        </p:nvSpPr>
        <p:spPr>
          <a:xfrm>
            <a:off x="6105144" y="3529584"/>
            <a:ext cx="36576" cy="713232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6196584" y="3566160"/>
            <a:ext cx="1039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2상</a:t>
            </a:r>
            <a:endParaRPr lang="en-US" sz="1000" dirty="0"/>
          </a:p>
        </p:txBody>
      </p:sp>
      <p:sp>
        <p:nvSpPr>
          <p:cNvPr id="75" name="Text 72"/>
          <p:cNvSpPr txBox="1"/>
          <p:nvPr/>
        </p:nvSpPr>
        <p:spPr>
          <a:xfrm>
            <a:off x="6196584" y="3767328"/>
            <a:ext cx="1039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100~300명</a:t>
            </a:r>
            <a:endParaRPr lang="en-US" sz="900" dirty="0"/>
          </a:p>
        </p:txBody>
      </p:sp>
      <p:sp>
        <p:nvSpPr>
          <p:cNvPr id="76" name="Text 73"/>
          <p:cNvSpPr txBox="1"/>
          <p:nvPr/>
        </p:nvSpPr>
        <p:spPr>
          <a:xfrm>
            <a:off x="6196584" y="3950208"/>
            <a:ext cx="1039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효능·부작용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7363968" y="3529584"/>
            <a:ext cx="118567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Shape 75"/>
          <p:cNvSpPr/>
          <p:nvPr/>
        </p:nvSpPr>
        <p:spPr>
          <a:xfrm>
            <a:off x="7363968" y="3529584"/>
            <a:ext cx="36576" cy="713232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7455408" y="3566160"/>
            <a:ext cx="1039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3상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7455408" y="3767328"/>
            <a:ext cx="1039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1,000명+</a:t>
            </a:r>
            <a:endParaRPr lang="en-US" sz="900" dirty="0"/>
          </a:p>
        </p:txBody>
      </p:sp>
      <p:sp>
        <p:nvSpPr>
          <p:cNvPr id="81" name="Text 78"/>
          <p:cNvSpPr txBox="1"/>
          <p:nvPr/>
        </p:nvSpPr>
        <p:spPr>
          <a:xfrm>
            <a:off x="7455408" y="3950208"/>
            <a:ext cx="1039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대규모 검증</a:t>
            </a:r>
            <a:endParaRPr lang="en-US" sz="800" dirty="0"/>
          </a:p>
        </p:txBody>
      </p:sp>
      <p:sp>
        <p:nvSpPr>
          <p:cNvPr id="82" name="Shape 79"/>
          <p:cNvSpPr/>
          <p:nvPr/>
        </p:nvSpPr>
        <p:spPr>
          <a:xfrm>
            <a:off x="411480" y="4498848"/>
            <a:ext cx="832104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83" name="Shape 80"/>
          <p:cNvSpPr/>
          <p:nvPr/>
        </p:nvSpPr>
        <p:spPr>
          <a:xfrm>
            <a:off x="411480" y="4498848"/>
            <a:ext cx="54864" cy="29260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576072" y="44988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핵심메세지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1636776" y="4562856"/>
            <a:ext cx="7315" cy="164592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1746504" y="4498848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비임상은 임상으로 가는 게이트 — 정확도가 떨어지면 신약 후보가 </a:t>
            </a:r>
            <a:pPr indent="0" marL="0">
              <a:buNone/>
            </a:pPr>
            <a:r>
              <a:rPr lang="en-US" sz="105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사람 시험에서 줄줄이 실패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한다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01 · WHY NOW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30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왜 지금인가 — 신약개발의 구조적 비효율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32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동물실험은 더 이상 충분한 예측 도구가 아니다 · 규제는 이미 움직이기 시작했다</a:t>
            </a:r>
            <a:endParaRPr lang="en-US" sz="1000" dirty="0"/>
          </a:p>
        </p:txBody>
      </p:sp>
      <p:pic>
        <p:nvPicPr>
          <p:cNvPr id="6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"/>
            <a:ext cx="1188720" cy="448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207008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07008"/>
            <a:ext cx="457200" cy="16459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4901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BioSpero · Global Strategy 2026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03 / 13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1480" y="1417320"/>
            <a:ext cx="201168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11480" y="1417320"/>
            <a:ext cx="2011680" cy="36576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57784" y="15453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22718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93%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557784" y="20208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임상 실패율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557784" y="22037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동물실험 통과 신약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임상 단계 실패 (Shanks et al.)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2514600" y="1417320"/>
            <a:ext cx="201168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1417320"/>
            <a:ext cx="2011680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660904" y="15453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$1.5B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2660904" y="20208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1개 신약 개발비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2660904" y="22037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평균 12년 소요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비임상 단계 예측 부정확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617720" y="1417320"/>
            <a:ext cx="201168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20"/>
          <p:cNvSpPr/>
          <p:nvPr/>
        </p:nvSpPr>
        <p:spPr>
          <a:xfrm>
            <a:off x="4617720" y="1417320"/>
            <a:ext cx="2011680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764024" y="15453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84년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4764024" y="20208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유지된 동물실험 의무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4764024" y="22037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1938 도입 → 2022 FDA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Modernization Act 2.0 폐지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6720840" y="1417320"/>
            <a:ext cx="201168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Shape 25"/>
          <p:cNvSpPr/>
          <p:nvPr/>
        </p:nvSpPr>
        <p:spPr>
          <a:xfrm>
            <a:off x="6720840" y="1417320"/>
            <a:ext cx="2011680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867144" y="15453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+13.5%</a:t>
            </a:r>
            <a:endParaRPr lang="en-US" sz="3000" dirty="0"/>
          </a:p>
        </p:txBody>
      </p:sp>
      <p:sp>
        <p:nvSpPr>
          <p:cNvPr id="30" name="Text 27"/>
          <p:cNvSpPr txBox="1"/>
          <p:nvPr/>
        </p:nvSpPr>
        <p:spPr>
          <a:xfrm>
            <a:off x="6867144" y="20208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비동물 대체 CAGR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6867144" y="22037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2021 $98M → 2030 $29B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생산성 시장으로 전환</a:t>
            </a:r>
            <a:endParaRPr lang="en-US" sz="780" dirty="0"/>
          </a:p>
        </p:txBody>
      </p:sp>
      <p:sp>
        <p:nvSpPr>
          <p:cNvPr id="32" name="Text 29"/>
          <p:cNvSpPr txBox="1"/>
          <p:nvPr/>
        </p:nvSpPr>
        <p:spPr>
          <a:xfrm>
            <a:off x="411480" y="26974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FDA · 비임상 패러다임 전환 타임라인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85800" y="3264408"/>
            <a:ext cx="7772400" cy="7315"/>
          </a:xfrm>
          <a:prstGeom prst="rect">
            <a:avLst/>
          </a:prstGeom>
          <a:solidFill>
            <a:srgbClr val="E5EAF2"/>
          </a:solidFill>
          <a:ln/>
        </p:spPr>
      </p:sp>
      <p:sp>
        <p:nvSpPr>
          <p:cNvPr id="34" name="Shape 31"/>
          <p:cNvSpPr/>
          <p:nvPr/>
        </p:nvSpPr>
        <p:spPr>
          <a:xfrm>
            <a:off x="685800" y="3264408"/>
            <a:ext cx="7772400" cy="10973"/>
          </a:xfrm>
          <a:prstGeom prst="rect">
            <a:avLst/>
          </a:prstGeom>
          <a:solidFill>
            <a:srgbClr val="E3EEFB"/>
          </a:solidFill>
          <a:ln/>
        </p:spPr>
      </p:sp>
      <p:sp>
        <p:nvSpPr>
          <p:cNvPr id="35" name="Shape 32"/>
          <p:cNvSpPr/>
          <p:nvPr/>
        </p:nvSpPr>
        <p:spPr>
          <a:xfrm>
            <a:off x="1408176" y="3218688"/>
            <a:ext cx="109728" cy="109728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85800" y="29352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2022.12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685800" y="337413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Modernization Act 2.0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685800" y="359359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동물실험 의무 폐지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MPS 명시 포함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3429000" y="3218688"/>
            <a:ext cx="109728" cy="109728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2706624" y="29352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2025.04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2706624" y="337413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mAb 동물실험 폐지 로드맵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2706624" y="359359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AI · 오가노이드 · OoC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도입 명시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449824" y="3218688"/>
            <a:ext cx="109728" cy="109728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727448" y="29352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2025.12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4727448" y="337413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비인간 영장류 축소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4727448" y="359359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PMDA · NIH 동참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규제 정합성↑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7470648" y="3218688"/>
            <a:ext cx="109728" cy="109728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6748272" y="29352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2026.03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6748272" y="337413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NAMs Validation 가이드라인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748272" y="359359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Context of Use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Fit-for-Purpose 4원칙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411480" y="4498848"/>
            <a:ext cx="832104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52" name="Shape 49"/>
          <p:cNvSpPr/>
          <p:nvPr/>
        </p:nvSpPr>
        <p:spPr>
          <a:xfrm>
            <a:off x="411480" y="4498848"/>
            <a:ext cx="54864" cy="29260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576072" y="44988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핵심메세지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1636776" y="4562856"/>
            <a:ext cx="7315" cy="164592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1746504" y="4498848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비임상 대체기술 = 윤리 시장이 아니라 </a:t>
            </a:r>
            <a:pPr indent="0" marL="0">
              <a:buNone/>
            </a:pPr>
            <a:r>
              <a:rPr lang="en-US" sz="105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신약개발 생산성 시장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으로 전환 중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01 · NONCLINICAL ECOSYSTEM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30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비임상 실험은 누가 어떻게 하는가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32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제약사 → CRO → 비임상 기술기업 → 규제기관 — BioSpero가 들어가는 자리</a:t>
            </a:r>
            <a:endParaRPr lang="en-US" sz="1000" dirty="0"/>
          </a:p>
        </p:txBody>
      </p:sp>
      <p:pic>
        <p:nvPicPr>
          <p:cNvPr id="6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"/>
            <a:ext cx="1188720" cy="448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207008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07008"/>
            <a:ext cx="457200" cy="16459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4901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BioSpero · Global Strategy 2026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04 / 13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1480" y="1417320"/>
            <a:ext cx="1970532" cy="1783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11480" y="1417320"/>
            <a:ext cx="1970532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9496" y="15453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78408" y="1600200"/>
            <a:ext cx="12938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PHARMA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" y="1819656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제약사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" y="2130552"/>
            <a:ext cx="1714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신약 기획 · 자금 · 판매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39496" y="2368296"/>
            <a:ext cx="365760" cy="10973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39496" y="2459736"/>
            <a:ext cx="17145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Pfizer · Roche · 한미약품 · 유한양행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391156" y="2162556"/>
            <a:ext cx="128016" cy="292608"/>
          </a:xfrm>
          <a:prstGeom prst="chevron">
            <a:avLst/>
          </a:prstGeom>
          <a:solidFill>
            <a:srgbClr val="1C69D4"/>
          </a:solidFill>
          <a:ln/>
        </p:spPr>
      </p:sp>
      <p:sp>
        <p:nvSpPr>
          <p:cNvPr id="21" name="Shape 18"/>
          <p:cNvSpPr/>
          <p:nvPr/>
        </p:nvSpPr>
        <p:spPr>
          <a:xfrm>
            <a:off x="2528316" y="1417320"/>
            <a:ext cx="1970532" cy="1783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Shape 19"/>
          <p:cNvSpPr/>
          <p:nvPr/>
        </p:nvSpPr>
        <p:spPr>
          <a:xfrm>
            <a:off x="2528316" y="1417320"/>
            <a:ext cx="1970532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656332" y="15453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02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095244" y="1600200"/>
            <a:ext cx="12938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CRO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2656332" y="1819656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임상시험 대행기관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2656332" y="2130552"/>
            <a:ext cx="1714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실험 외주 수행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656332" y="2368296"/>
            <a:ext cx="365760" cy="10973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656332" y="2459736"/>
            <a:ext cx="17145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Charles River · Labcorp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KNOTUS · KCR · DrugBio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07992" y="2162556"/>
            <a:ext cx="128016" cy="292608"/>
          </a:xfrm>
          <a:prstGeom prst="chevron">
            <a:avLst/>
          </a:prstGeom>
          <a:solidFill>
            <a:srgbClr val="1C69D4"/>
          </a:solidFill>
          <a:ln/>
        </p:spPr>
      </p:sp>
      <p:sp>
        <p:nvSpPr>
          <p:cNvPr id="30" name="Shape 27"/>
          <p:cNvSpPr/>
          <p:nvPr/>
        </p:nvSpPr>
        <p:spPr>
          <a:xfrm>
            <a:off x="4645152" y="1417320"/>
            <a:ext cx="1970532" cy="1783080"/>
          </a:xfrm>
          <a:prstGeom prst="rect">
            <a:avLst/>
          </a:prstGeom>
          <a:solidFill>
            <a:srgbClr val="FCE7E6"/>
          </a:solidFill>
          <a:ln/>
        </p:spPr>
      </p:sp>
      <p:sp>
        <p:nvSpPr>
          <p:cNvPr id="31" name="Shape 28"/>
          <p:cNvSpPr/>
          <p:nvPr/>
        </p:nvSpPr>
        <p:spPr>
          <a:xfrm>
            <a:off x="4645152" y="1417320"/>
            <a:ext cx="1970532" cy="36576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773168" y="15453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2718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03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212080" y="1600200"/>
            <a:ext cx="12938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TECH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4773168" y="1819656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2718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비임상 기술기업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4773168" y="2130552"/>
            <a:ext cx="1714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장비 · 칩 · 플랫폼 제공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773168" y="2368296"/>
            <a:ext cx="365760" cy="10973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4773168" y="2459736"/>
            <a:ext cx="17145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Emulate · MIMETAS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BioSpero (★)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624828" y="2162556"/>
            <a:ext cx="128016" cy="292608"/>
          </a:xfrm>
          <a:prstGeom prst="chevron">
            <a:avLst/>
          </a:prstGeom>
          <a:solidFill>
            <a:srgbClr val="1C69D4"/>
          </a:solidFill>
          <a:ln/>
        </p:spPr>
      </p:sp>
      <p:sp>
        <p:nvSpPr>
          <p:cNvPr id="39" name="Shape 36"/>
          <p:cNvSpPr/>
          <p:nvPr/>
        </p:nvSpPr>
        <p:spPr>
          <a:xfrm>
            <a:off x="6761988" y="1417320"/>
            <a:ext cx="1970532" cy="1783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Shape 37"/>
          <p:cNvSpPr/>
          <p:nvPr/>
        </p:nvSpPr>
        <p:spPr>
          <a:xfrm>
            <a:off x="6761988" y="1417320"/>
            <a:ext cx="1970532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890004" y="15453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04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7328916" y="1600200"/>
            <a:ext cx="12938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REGULATOR</a:t>
            </a:r>
            <a:endParaRPr lang="en-US" sz="800" dirty="0"/>
          </a:p>
        </p:txBody>
      </p:sp>
      <p:sp>
        <p:nvSpPr>
          <p:cNvPr id="43" name="Text 40"/>
          <p:cNvSpPr txBox="1"/>
          <p:nvPr/>
        </p:nvSpPr>
        <p:spPr>
          <a:xfrm>
            <a:off x="6890004" y="1819656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규제기관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6890004" y="2130552"/>
            <a:ext cx="1714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시험법 인증 · 신약 허가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890004" y="2368296"/>
            <a:ext cx="365760" cy="10973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6890004" y="2459736"/>
            <a:ext cx="17145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FDA (미국) · MFDS 식약처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PMDA · EMA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2043684" y="12344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실험 의뢰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4160520" y="12344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장비 구매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6277356" y="12344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데이터 제출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11480" y="3383280"/>
            <a:ext cx="8321040" cy="100584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51" name="Shape 48"/>
          <p:cNvSpPr/>
          <p:nvPr/>
        </p:nvSpPr>
        <p:spPr>
          <a:xfrm>
            <a:off x="411480" y="3383280"/>
            <a:ext cx="54864" cy="1005840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594360" y="34747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혈액검사로 비유하면 — 누가 무엇을 하는가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37490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제약사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594360" y="395020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≈ 환자 (검사 의뢰자)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594360" y="415137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8D6E6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"이 약 안전한가?" 의뢰</a:t>
            </a:r>
            <a:endParaRPr lang="en-US" sz="800" dirty="0"/>
          </a:p>
        </p:txBody>
      </p:sp>
      <p:sp>
        <p:nvSpPr>
          <p:cNvPr id="56" name="Text 53"/>
          <p:cNvSpPr txBox="1"/>
          <p:nvPr/>
        </p:nvSpPr>
        <p:spPr>
          <a:xfrm>
            <a:off x="2596896" y="37490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CRO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2596896" y="395020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≈ 병원 / 검사실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2596896" y="415137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8D6E6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혈액 채취 · 검사 수행</a:t>
            </a:r>
            <a:endParaRPr lang="en-US" sz="800" dirty="0"/>
          </a:p>
        </p:txBody>
      </p:sp>
      <p:sp>
        <p:nvSpPr>
          <p:cNvPr id="59" name="Text 56"/>
          <p:cNvSpPr txBox="1"/>
          <p:nvPr/>
        </p:nvSpPr>
        <p:spPr>
          <a:xfrm>
            <a:off x="4599432" y="37490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BioSpero (기술기업)</a:t>
            </a:r>
            <a:endParaRPr lang="en-US" sz="900" dirty="0"/>
          </a:p>
        </p:txBody>
      </p:sp>
      <p:sp>
        <p:nvSpPr>
          <p:cNvPr id="60" name="Text 57"/>
          <p:cNvSpPr txBox="1"/>
          <p:nvPr/>
        </p:nvSpPr>
        <p:spPr>
          <a:xfrm>
            <a:off x="4599432" y="395020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≈ 검사 장비 제조사</a:t>
            </a:r>
            <a:endParaRPr lang="en-US" sz="950" dirty="0"/>
          </a:p>
        </p:txBody>
      </p:sp>
      <p:sp>
        <p:nvSpPr>
          <p:cNvPr id="61" name="Text 58"/>
          <p:cNvSpPr txBox="1"/>
          <p:nvPr/>
        </p:nvSpPr>
        <p:spPr>
          <a:xfrm>
            <a:off x="4599432" y="415137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8D6E6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검사장비·시약·플랫폼 공급</a:t>
            </a:r>
            <a:endParaRPr lang="en-US" sz="800" dirty="0"/>
          </a:p>
        </p:txBody>
      </p:sp>
      <p:sp>
        <p:nvSpPr>
          <p:cNvPr id="62" name="Text 59"/>
          <p:cNvSpPr txBox="1"/>
          <p:nvPr/>
        </p:nvSpPr>
        <p:spPr>
          <a:xfrm>
            <a:off x="6601968" y="37490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FDA · 식약처</a:t>
            </a:r>
            <a:endParaRPr lang="en-US" sz="900" dirty="0"/>
          </a:p>
        </p:txBody>
      </p:sp>
      <p:sp>
        <p:nvSpPr>
          <p:cNvPr id="63" name="Text 60"/>
          <p:cNvSpPr txBox="1"/>
          <p:nvPr/>
        </p:nvSpPr>
        <p:spPr>
          <a:xfrm>
            <a:off x="6601968" y="395020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≈ 보건당국 · 인증기관</a:t>
            </a:r>
            <a:endParaRPr lang="en-US" sz="950" dirty="0"/>
          </a:p>
        </p:txBody>
      </p:sp>
      <p:sp>
        <p:nvSpPr>
          <p:cNvPr id="64" name="Text 61"/>
          <p:cNvSpPr txBox="1"/>
          <p:nvPr/>
        </p:nvSpPr>
        <p:spPr>
          <a:xfrm>
            <a:off x="6601968" y="415137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8D6E6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검사법 인증 → 약 시판 가능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411480" y="4498848"/>
            <a:ext cx="832104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66" name="Shape 63"/>
          <p:cNvSpPr/>
          <p:nvPr/>
        </p:nvSpPr>
        <p:spPr>
          <a:xfrm>
            <a:off x="411480" y="4498848"/>
            <a:ext cx="54864" cy="29260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576072" y="44988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핵심메세지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1636776" y="4562856"/>
            <a:ext cx="7315" cy="164592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1746504" y="4498848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BioSpero는 CRO·제약사가 실험에 사용하는 "</a:t>
            </a:r>
            <a:pPr indent="0" marL="0">
              <a:buNone/>
            </a:pPr>
            <a:r>
              <a:rPr lang="en-US" sz="105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장비·플랫폼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" 위치 — 데이터 인프라 공급자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01 · MARKET SHIFT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30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OoC가 비임상 대체기술 중 핵심 포지션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32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성숙도는 중간이지만 규제 수용성과 인체 예측력에서 압도적</a:t>
            </a:r>
            <a:endParaRPr lang="en-US" sz="1000" dirty="0"/>
          </a:p>
        </p:txBody>
      </p:sp>
      <p:pic>
        <p:nvPicPr>
          <p:cNvPr id="6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"/>
            <a:ext cx="1188720" cy="448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207008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07008"/>
            <a:ext cx="457200" cy="16459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4901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BioSpero · Global Strategy 2026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05 / 13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1480" y="1417320"/>
            <a:ext cx="4846320" cy="3017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11480" y="1417320"/>
            <a:ext cx="4846320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" y="154533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MATRIX · MATURITY × REGULATORY RELEVANCE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914400" y="4114800"/>
            <a:ext cx="4114800" cy="10973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6" name="Shape 13"/>
          <p:cNvSpPr/>
          <p:nvPr/>
        </p:nvSpPr>
        <p:spPr>
          <a:xfrm>
            <a:off x="914400" y="1874520"/>
            <a:ext cx="10973" cy="22402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7" name="Shape 14"/>
          <p:cNvSpPr/>
          <p:nvPr/>
        </p:nvSpPr>
        <p:spPr>
          <a:xfrm>
            <a:off x="914400" y="2994660"/>
            <a:ext cx="411480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8" name="Shape 15"/>
          <p:cNvSpPr/>
          <p:nvPr/>
        </p:nvSpPr>
        <p:spPr>
          <a:xfrm>
            <a:off x="2971800" y="1874520"/>
            <a:ext cx="7315" cy="2240280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17465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REGULATORY RELEVANCE →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60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MARKET MATURITY →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293108" y="3323844"/>
            <a:ext cx="237744" cy="23774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771900" y="32232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2D Cell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049524" y="2754630"/>
            <a:ext cx="256032" cy="25603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628900" y="249859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Organoid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656332" y="3108960"/>
            <a:ext cx="219456" cy="21945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857500" y="30540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/ In-Silico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144268" y="2000250"/>
            <a:ext cx="420624" cy="420624"/>
          </a:xfrm>
          <a:prstGeom prst="ellipse">
            <a:avLst/>
          </a:prstGeom>
          <a:solidFill>
            <a:srgbClr val="E22718"/>
          </a:solidFill>
          <a:ln/>
        </p:spPr>
      </p:sp>
      <p:sp>
        <p:nvSpPr>
          <p:cNvPr id="28" name="Shape 25"/>
          <p:cNvSpPr/>
          <p:nvPr/>
        </p:nvSpPr>
        <p:spPr>
          <a:xfrm>
            <a:off x="2189988" y="2045970"/>
            <a:ext cx="329184" cy="329184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500884" y="211912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Organ-on-Chip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572768" y="3360420"/>
            <a:ext cx="164592" cy="164592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380744" y="32415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Bio-printing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5440680" y="1417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OoC SIGNALS — 시장은 이미 움직이는 중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440680" y="1709928"/>
            <a:ext cx="3291840" cy="6035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Shape 31"/>
          <p:cNvSpPr/>
          <p:nvPr/>
        </p:nvSpPr>
        <p:spPr>
          <a:xfrm>
            <a:off x="5440680" y="1709928"/>
            <a:ext cx="36576" cy="60350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5586984" y="17647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28~30%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5586984" y="20391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OoC 시장 CAGR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5586984" y="21671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Stratview · KBV · Research Dive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440680" y="2368296"/>
            <a:ext cx="3291840" cy="6035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9" name="Shape 36"/>
          <p:cNvSpPr/>
          <p:nvPr/>
        </p:nvSpPr>
        <p:spPr>
          <a:xfrm>
            <a:off x="5440680" y="2368296"/>
            <a:ext cx="36576" cy="60350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5586984" y="24231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2,134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5586984" y="26974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PubMed OoC 논문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5586984" y="282549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한국 점유율 7.7% (164건)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440680" y="3026664"/>
            <a:ext cx="3291840" cy="6035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Shape 41"/>
          <p:cNvSpPr/>
          <p:nvPr/>
        </p:nvSpPr>
        <p:spPr>
          <a:xfrm>
            <a:off x="5440680" y="3026664"/>
            <a:ext cx="36576" cy="60350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5586984" y="30815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ISTAND</a:t>
            </a:r>
            <a:endParaRPr lang="en-US" sz="1800" dirty="0"/>
          </a:p>
        </p:txBody>
      </p:sp>
      <p:sp>
        <p:nvSpPr>
          <p:cNvPr id="46" name="Text 43"/>
          <p:cNvSpPr txBox="1"/>
          <p:nvPr/>
        </p:nvSpPr>
        <p:spPr>
          <a:xfrm>
            <a:off x="5586984" y="33558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Emulate Liver-Chip 진입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5586984" y="348386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FDA 정식 적격성 평가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440680" y="3685032"/>
            <a:ext cx="3291840" cy="6035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Shape 46"/>
          <p:cNvSpPr/>
          <p:nvPr/>
        </p:nvSpPr>
        <p:spPr>
          <a:xfrm>
            <a:off x="5440680" y="3685032"/>
            <a:ext cx="36576" cy="60350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5586984" y="373989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$650~700M</a:t>
            </a:r>
            <a:endParaRPr lang="en-US" sz="1800" dirty="0"/>
          </a:p>
        </p:txBody>
      </p:sp>
      <p:sp>
        <p:nvSpPr>
          <p:cNvPr id="51" name="Text 48"/>
          <p:cNvSpPr txBox="1"/>
          <p:nvPr/>
        </p:nvSpPr>
        <p:spPr>
          <a:xfrm>
            <a:off x="5586984" y="401421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2028 글로벌 OoC 매출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5586984" y="41422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전임상 CRO ($8.4B) 대비 8%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411480" y="4498848"/>
            <a:ext cx="832104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54" name="Shape 51"/>
          <p:cNvSpPr/>
          <p:nvPr/>
        </p:nvSpPr>
        <p:spPr>
          <a:xfrm>
            <a:off x="411480" y="4498848"/>
            <a:ext cx="54864" cy="29260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576072" y="44988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핵심메세지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1636776" y="4562856"/>
            <a:ext cx="7315" cy="164592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1746504" y="4498848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OoC = high-trust 전임상 데이터의 </a:t>
            </a:r>
            <a:pPr indent="0" marL="0">
              <a:buNone/>
            </a:pPr>
            <a:r>
              <a:rPr lang="en-US" sz="105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표준 플랫폼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 될 가능성 가장 큼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02 · CURRENT PROBLEM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30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OoC 시장의 4대 미해결 한계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32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수요는 명확하지만 industrial-grade 플랫폼은 부재 — 진입 기회</a:t>
            </a:r>
            <a:endParaRPr lang="en-US" sz="1000" dirty="0"/>
          </a:p>
        </p:txBody>
      </p:sp>
      <p:pic>
        <p:nvPicPr>
          <p:cNvPr id="6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"/>
            <a:ext cx="1188720" cy="448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207008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07008"/>
            <a:ext cx="457200" cy="16459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4901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BioSpero · Global Strategy 2026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06 / 13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1480" y="1417320"/>
            <a:ext cx="4069080" cy="138531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11480" y="1417320"/>
            <a:ext cx="36576" cy="138531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76072" y="1527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24712" y="158191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4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SAMPLE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76072" y="1837944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샘플량 부족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4360" y="2167128"/>
            <a:ext cx="3739896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배양 면적 0.6~17mm² 수준</a:t>
            </a:r>
            <a:endParaRPr lang="en-US" sz="900" dirty="0"/>
          </a:p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분석 가능한 세포 수 한계</a:t>
            </a:r>
            <a:endParaRPr lang="en-US" sz="900" dirty="0"/>
          </a:p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반복 분석 시 신뢰성↓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663440" y="1417320"/>
            <a:ext cx="4069080" cy="138531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6"/>
          <p:cNvSpPr/>
          <p:nvPr/>
        </p:nvSpPr>
        <p:spPr>
          <a:xfrm>
            <a:off x="4663440" y="1417320"/>
            <a:ext cx="36576" cy="138531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28032" y="1527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376672" y="158191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4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STABILITY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4828032" y="1837944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유량 불안정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846320" y="2167128"/>
            <a:ext cx="3739896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공기압·중력 → 정밀제어 한계</a:t>
            </a:r>
            <a:endParaRPr lang="en-US" sz="900" dirty="0"/>
          </a:p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장기 실험 시 농도 편차</a:t>
            </a:r>
            <a:endParaRPr lang="en-US" sz="900" dirty="0"/>
          </a:p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ADME 모사 정확도 저하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11480" y="2985516"/>
            <a:ext cx="4069080" cy="138531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2"/>
          <p:cNvSpPr/>
          <p:nvPr/>
        </p:nvSpPr>
        <p:spPr>
          <a:xfrm>
            <a:off x="411480" y="2985516"/>
            <a:ext cx="36576" cy="138531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76072" y="30952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124712" y="315010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4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576072" y="3406140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재현성 결여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94360" y="3735324"/>
            <a:ext cx="3739896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기관 간·랏 간 데이터 편차</a:t>
            </a:r>
            <a:endParaRPr lang="en-US" sz="900" dirty="0"/>
          </a:p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FDA Validation 데이터 부재</a:t>
            </a:r>
            <a:endParaRPr lang="en-US" sz="900" dirty="0"/>
          </a:p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ISTAND 통과 기준 미충족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663440" y="2985516"/>
            <a:ext cx="4069080" cy="138531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Shape 28"/>
          <p:cNvSpPr/>
          <p:nvPr/>
        </p:nvSpPr>
        <p:spPr>
          <a:xfrm>
            <a:off x="4663440" y="2985516"/>
            <a:ext cx="36576" cy="138531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828032" y="30952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04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5376672" y="315010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4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USABILITY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4828032" y="3406140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분석 통합 미비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846320" y="3735324"/>
            <a:ext cx="3739896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분석장비와 호환성 낮음</a:t>
            </a:r>
            <a:endParaRPr lang="en-US" sz="900" dirty="0"/>
          </a:p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End-to-End workflow 부재</a:t>
            </a:r>
            <a:endParaRPr lang="en-US" sz="900" dirty="0"/>
          </a:p>
          <a:p>
            <a:pPr marL="342900" indent="-342900">
              <a:spcBef>
                <a:spcPts val="100"/>
              </a:spcBef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전문 운영 인력 의존도↑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11480" y="4498848"/>
            <a:ext cx="832104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37" name="Shape 34"/>
          <p:cNvSpPr/>
          <p:nvPr/>
        </p:nvSpPr>
        <p:spPr>
          <a:xfrm>
            <a:off x="411480" y="4498848"/>
            <a:ext cx="54864" cy="29260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76072" y="44988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핵심메세지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1636776" y="4562856"/>
            <a:ext cx="7315" cy="164592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746504" y="4498848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수요 ✓ · 솔루션 부재 → </a:t>
            </a:r>
            <a:pPr indent="0" marL="0">
              <a:buNone/>
            </a:pPr>
            <a:r>
              <a:rPr lang="en-US" sz="105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industrial-grade 플랫폼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 시장 표준을 가져간다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02 · WHY BIOSPERO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30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BioSpero — 비임상 워크플로우 플랫폼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32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샘플량 25배↑ · 배양액 6배↑ · 순환식 펌프로 장기 안정성 확보</a:t>
            </a:r>
            <a:endParaRPr lang="en-US" sz="1000" dirty="0"/>
          </a:p>
        </p:txBody>
      </p:sp>
      <p:pic>
        <p:nvPicPr>
          <p:cNvPr id="6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"/>
            <a:ext cx="1188720" cy="448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207008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07008"/>
            <a:ext cx="457200" cy="16459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4901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BioSpero · Global Strategy 2026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07 / 13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1480" y="1417320"/>
            <a:ext cx="1841542" cy="36576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2920" y="1417320"/>
            <a:ext cx="16586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METRIC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253022" y="1417320"/>
            <a:ext cx="1591456" cy="36576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344462" y="1417320"/>
            <a:ext cx="14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Emulate (US)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844477" y="1417320"/>
            <a:ext cx="1591456" cy="36576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935917" y="1417320"/>
            <a:ext cx="14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MIMETAS (NL)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35933" y="1417320"/>
            <a:ext cx="1591456" cy="36576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527373" y="1417320"/>
            <a:ext cx="14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MEPSGEN (KR)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027389" y="1417320"/>
            <a:ext cx="1705131" cy="36576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18829" y="1417320"/>
            <a:ext cx="15222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BioSpero (KR)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1480" y="1783080"/>
            <a:ext cx="1841542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02920" y="1783080"/>
            <a:ext cx="16586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칩 독립 제어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253022" y="1783080"/>
            <a:ext cx="159145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2307886" y="178308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 (가능)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844477" y="1783080"/>
            <a:ext cx="159145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899341" y="178308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64 (불가능)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435933" y="1783080"/>
            <a:ext cx="159145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490797" y="178308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32 (불가능)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027389" y="1783080"/>
            <a:ext cx="1705131" cy="365760"/>
          </a:xfrm>
          <a:prstGeom prst="rect">
            <a:avLst/>
          </a:prstGeom>
          <a:solidFill>
            <a:srgbClr val="E3EEF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082253" y="1783080"/>
            <a:ext cx="1595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 (가능)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11480" y="2148840"/>
            <a:ext cx="184154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02920" y="2148840"/>
            <a:ext cx="16586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배양액 용량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253022" y="2148840"/>
            <a:ext cx="1591456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2307886" y="214884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 mL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844477" y="2148840"/>
            <a:ext cx="1591456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3899341" y="214884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15~90 μL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435933" y="2148840"/>
            <a:ext cx="1591456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490797" y="214884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500 μL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027389" y="2148840"/>
            <a:ext cx="1705131" cy="365760"/>
          </a:xfrm>
          <a:prstGeom prst="rect">
            <a:avLst/>
          </a:prstGeom>
          <a:solidFill>
            <a:srgbClr val="E3EEFB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082253" y="2148840"/>
            <a:ext cx="1595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 mL ↑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11480" y="2514600"/>
            <a:ext cx="1841542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502920" y="2514600"/>
            <a:ext cx="16586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유량 방식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253022" y="2514600"/>
            <a:ext cx="159145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2307886" y="251460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공기압 단방향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844477" y="2514600"/>
            <a:ext cx="159145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3899341" y="251460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중력 기반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435933" y="2514600"/>
            <a:ext cx="159145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5490797" y="251460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공기압 단방향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7027389" y="2514600"/>
            <a:ext cx="1705131" cy="365760"/>
          </a:xfrm>
          <a:prstGeom prst="rect">
            <a:avLst/>
          </a:prstGeom>
          <a:solidFill>
            <a:srgbClr val="E3EEFB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7082253" y="2514600"/>
            <a:ext cx="1595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연동 펌프 (순환)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11480" y="2880360"/>
            <a:ext cx="184154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502920" y="2880360"/>
            <a:ext cx="16586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세포 배양 면적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2253022" y="2880360"/>
            <a:ext cx="1591456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2307886" y="288036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17.1 mm²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844477" y="2880360"/>
            <a:ext cx="1591456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3899341" y="288036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0.57 mm²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5435933" y="2880360"/>
            <a:ext cx="1591456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490797" y="288036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1.14 mm²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7027389" y="2880360"/>
            <a:ext cx="1705131" cy="365760"/>
          </a:xfrm>
          <a:prstGeom prst="rect">
            <a:avLst/>
          </a:prstGeom>
          <a:solidFill>
            <a:srgbClr val="E3EEFB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7082253" y="2880360"/>
            <a:ext cx="1595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48 mm² ↑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411480" y="3246120"/>
            <a:ext cx="1841542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502920" y="3246120"/>
            <a:ext cx="16586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Multi-Organ 확장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2253022" y="3246120"/>
            <a:ext cx="159145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2307886" y="324612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제한적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3844477" y="3246120"/>
            <a:ext cx="159145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3899341" y="324612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제한적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5435933" y="3246120"/>
            <a:ext cx="159145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5490797" y="3246120"/>
            <a:ext cx="14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불가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7027389" y="3246120"/>
            <a:ext cx="1705131" cy="365760"/>
          </a:xfrm>
          <a:prstGeom prst="rect">
            <a:avLst/>
          </a:prstGeom>
          <a:solidFill>
            <a:srgbClr val="E3EEFB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7082253" y="3246120"/>
            <a:ext cx="1595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4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가능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7027389" y="1417320"/>
            <a:ext cx="1705131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73" name="Shape 70"/>
          <p:cNvSpPr/>
          <p:nvPr/>
        </p:nvSpPr>
        <p:spPr>
          <a:xfrm>
            <a:off x="411480" y="3840480"/>
            <a:ext cx="2712720" cy="502920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74" name="Shape 71"/>
          <p:cNvSpPr/>
          <p:nvPr/>
        </p:nvSpPr>
        <p:spPr>
          <a:xfrm>
            <a:off x="411480" y="3840480"/>
            <a:ext cx="36576" cy="50292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557784" y="3895344"/>
            <a:ext cx="252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48mm²</a:t>
            </a:r>
            <a:endParaRPr lang="en-US" sz="1600" dirty="0"/>
          </a:p>
        </p:txBody>
      </p:sp>
      <p:sp>
        <p:nvSpPr>
          <p:cNvPr id="76" name="Text 73"/>
          <p:cNvSpPr txBox="1"/>
          <p:nvPr/>
        </p:nvSpPr>
        <p:spPr>
          <a:xfrm>
            <a:off x="557784" y="4151376"/>
            <a:ext cx="252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세포 배양 면적</a:t>
            </a:r>
            <a:endParaRPr lang="en-US" sz="850" dirty="0"/>
          </a:p>
        </p:txBody>
      </p:sp>
      <p:sp>
        <p:nvSpPr>
          <p:cNvPr id="77" name="Text 74"/>
          <p:cNvSpPr txBox="1"/>
          <p:nvPr/>
        </p:nvSpPr>
        <p:spPr>
          <a:xfrm>
            <a:off x="557784" y="4297680"/>
            <a:ext cx="252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최대 25배 확보 → 반복 분석 가능</a:t>
            </a:r>
            <a:endParaRPr lang="en-US" sz="750" dirty="0"/>
          </a:p>
        </p:txBody>
      </p:sp>
      <p:sp>
        <p:nvSpPr>
          <p:cNvPr id="78" name="Shape 75"/>
          <p:cNvSpPr/>
          <p:nvPr/>
        </p:nvSpPr>
        <p:spPr>
          <a:xfrm>
            <a:off x="3215640" y="3840480"/>
            <a:ext cx="2712720" cy="502920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79" name="Shape 76"/>
          <p:cNvSpPr/>
          <p:nvPr/>
        </p:nvSpPr>
        <p:spPr>
          <a:xfrm>
            <a:off x="3215640" y="3840480"/>
            <a:ext cx="36576" cy="50292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3361944" y="3895344"/>
            <a:ext cx="252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3mL</a:t>
            </a:r>
            <a:endParaRPr lang="en-US" sz="1600" dirty="0"/>
          </a:p>
        </p:txBody>
      </p:sp>
      <p:sp>
        <p:nvSpPr>
          <p:cNvPr id="81" name="Text 78"/>
          <p:cNvSpPr txBox="1"/>
          <p:nvPr/>
        </p:nvSpPr>
        <p:spPr>
          <a:xfrm>
            <a:off x="3361944" y="4151376"/>
            <a:ext cx="252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배양액 용량</a:t>
            </a:r>
            <a:endParaRPr lang="en-US" sz="850" dirty="0"/>
          </a:p>
        </p:txBody>
      </p:sp>
      <p:sp>
        <p:nvSpPr>
          <p:cNvPr id="82" name="Text 79"/>
          <p:cNvSpPr txBox="1"/>
          <p:nvPr/>
        </p:nvSpPr>
        <p:spPr>
          <a:xfrm>
            <a:off x="3361944" y="4297680"/>
            <a:ext cx="252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동결·희석 문제 최소화</a:t>
            </a:r>
            <a:endParaRPr lang="en-US" sz="750" dirty="0"/>
          </a:p>
        </p:txBody>
      </p:sp>
      <p:sp>
        <p:nvSpPr>
          <p:cNvPr id="83" name="Shape 80"/>
          <p:cNvSpPr/>
          <p:nvPr/>
        </p:nvSpPr>
        <p:spPr>
          <a:xfrm>
            <a:off x="6019800" y="3840480"/>
            <a:ext cx="2712720" cy="502920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84" name="Shape 81"/>
          <p:cNvSpPr/>
          <p:nvPr/>
        </p:nvSpPr>
        <p:spPr>
          <a:xfrm>
            <a:off x="6019800" y="3840480"/>
            <a:ext cx="36576" cy="50292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6166104" y="3895344"/>
            <a:ext cx="252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Multi-OoC</a:t>
            </a:r>
            <a:endParaRPr lang="en-US" sz="1600" dirty="0"/>
          </a:p>
        </p:txBody>
      </p:sp>
      <p:sp>
        <p:nvSpPr>
          <p:cNvPr id="86" name="Text 83"/>
          <p:cNvSpPr txBox="1"/>
          <p:nvPr/>
        </p:nvSpPr>
        <p:spPr>
          <a:xfrm>
            <a:off x="6166104" y="4151376"/>
            <a:ext cx="252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장기 연결 확장</a:t>
            </a:r>
            <a:endParaRPr lang="en-US" sz="850" dirty="0"/>
          </a:p>
        </p:txBody>
      </p:sp>
      <p:sp>
        <p:nvSpPr>
          <p:cNvPr id="87" name="Text 84"/>
          <p:cNvSpPr txBox="1"/>
          <p:nvPr/>
        </p:nvSpPr>
        <p:spPr>
          <a:xfrm>
            <a:off x="6166104" y="4297680"/>
            <a:ext cx="252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장-간-신장-뇌 ADME 전 과정 모사</a:t>
            </a:r>
            <a:endParaRPr lang="en-US" sz="750" dirty="0"/>
          </a:p>
        </p:txBody>
      </p:sp>
      <p:sp>
        <p:nvSpPr>
          <p:cNvPr id="88" name="Shape 85"/>
          <p:cNvSpPr/>
          <p:nvPr/>
        </p:nvSpPr>
        <p:spPr>
          <a:xfrm>
            <a:off x="411480" y="4498848"/>
            <a:ext cx="832104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89" name="Shape 86"/>
          <p:cNvSpPr/>
          <p:nvPr/>
        </p:nvSpPr>
        <p:spPr>
          <a:xfrm>
            <a:off x="411480" y="4498848"/>
            <a:ext cx="54864" cy="29260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576072" y="44988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핵심메세지</a:t>
            </a:r>
            <a:endParaRPr lang="en-US" sz="900" dirty="0"/>
          </a:p>
        </p:txBody>
      </p:sp>
      <p:sp>
        <p:nvSpPr>
          <p:cNvPr id="91" name="Shape 88"/>
          <p:cNvSpPr/>
          <p:nvPr/>
        </p:nvSpPr>
        <p:spPr>
          <a:xfrm>
            <a:off x="1636776" y="4562856"/>
            <a:ext cx="7315" cy="164592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92" name="Text 89"/>
          <p:cNvSpPr txBox="1"/>
          <p:nvPr/>
        </p:nvSpPr>
        <p:spPr>
          <a:xfrm>
            <a:off x="1746504" y="4498848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샘플량·유량·확장성 3축에서 글로벌 경쟁사 대비 </a:t>
            </a:r>
            <a:pPr indent="0" marL="0">
              <a:buNone/>
            </a:pPr>
            <a:r>
              <a:rPr lang="en-US" sz="105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명확한 우위</a:t>
            </a:r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02 · BUSINESS MODEL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30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장비 기업이 아니다 — 비임상 데이터 플랫폼으로 진화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32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Hardware 단일 매출에서 반복·서비스·데이터로 가치 사다리 이동</a:t>
            </a:r>
            <a:endParaRPr lang="en-US" sz="1000" dirty="0"/>
          </a:p>
        </p:txBody>
      </p:sp>
      <p:pic>
        <p:nvPicPr>
          <p:cNvPr id="6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"/>
            <a:ext cx="1188720" cy="448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207008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07008"/>
            <a:ext cx="457200" cy="16459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4901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BioSpero · Global Strategy 2026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08 / 13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1480" y="1508760"/>
            <a:ext cx="1591056" cy="1691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11480" y="1508760"/>
            <a:ext cx="1591056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9496" y="16550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39496" y="1929384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HARDWARE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" y="214884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장비 판매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" y="251460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OrganXpert M / O / 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프리미엄 가격, 초기 고객 확보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007108" y="2208276"/>
            <a:ext cx="82296" cy="292608"/>
          </a:xfrm>
          <a:prstGeom prst="chevron">
            <a:avLst/>
          </a:prstGeom>
          <a:solidFill>
            <a:srgbClr val="1C69D4"/>
          </a:solidFill>
          <a:ln/>
        </p:spPr>
      </p:sp>
      <p:sp>
        <p:nvSpPr>
          <p:cNvPr id="19" name="Shape 16"/>
          <p:cNvSpPr/>
          <p:nvPr/>
        </p:nvSpPr>
        <p:spPr>
          <a:xfrm>
            <a:off x="2093976" y="1508760"/>
            <a:ext cx="1591056" cy="1691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7"/>
          <p:cNvSpPr/>
          <p:nvPr/>
        </p:nvSpPr>
        <p:spPr>
          <a:xfrm>
            <a:off x="2093976" y="1508760"/>
            <a:ext cx="1591056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221992" y="16550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2221992" y="1929384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CONSUMABLES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2221992" y="214884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Chip 반복매출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2221992" y="251460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세포포함칩 + SOP 키트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장비 1대당 연 수십 회 구매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689604" y="2208276"/>
            <a:ext cx="82296" cy="292608"/>
          </a:xfrm>
          <a:prstGeom prst="chevron">
            <a:avLst/>
          </a:prstGeom>
          <a:solidFill>
            <a:srgbClr val="1C69D4"/>
          </a:solidFill>
          <a:ln/>
        </p:spPr>
      </p:sp>
      <p:sp>
        <p:nvSpPr>
          <p:cNvPr id="26" name="Shape 23"/>
          <p:cNvSpPr/>
          <p:nvPr/>
        </p:nvSpPr>
        <p:spPr>
          <a:xfrm>
            <a:off x="3776472" y="1508760"/>
            <a:ext cx="1591056" cy="1691640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3776472" y="1508760"/>
            <a:ext cx="1591056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904488" y="16550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3904488" y="1929384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SERVICE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3904488" y="214884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CRO 실험 서비스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3904488" y="251460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BiolabXpert 화합물 평가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IND 데이터 패키지 납품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372100" y="2208276"/>
            <a:ext cx="82296" cy="292608"/>
          </a:xfrm>
          <a:prstGeom prst="chevron">
            <a:avLst/>
          </a:prstGeom>
          <a:solidFill>
            <a:srgbClr val="1C69D4"/>
          </a:solidFill>
          <a:ln/>
        </p:spPr>
      </p:sp>
      <p:sp>
        <p:nvSpPr>
          <p:cNvPr id="33" name="Shape 30"/>
          <p:cNvSpPr/>
          <p:nvPr/>
        </p:nvSpPr>
        <p:spPr>
          <a:xfrm>
            <a:off x="5458968" y="1508760"/>
            <a:ext cx="1591056" cy="1691640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34" name="Shape 31"/>
          <p:cNvSpPr/>
          <p:nvPr/>
        </p:nvSpPr>
        <p:spPr>
          <a:xfrm>
            <a:off x="5458968" y="1508760"/>
            <a:ext cx="1591056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5586984" y="16550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5586984" y="1929384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DATA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5586984" y="214884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데이터 패키지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586984" y="251460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약물 반응 데이터셋 라이선싱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FDA·MFDS 제출 표준화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7054596" y="2208276"/>
            <a:ext cx="82296" cy="292608"/>
          </a:xfrm>
          <a:prstGeom prst="chevron">
            <a:avLst/>
          </a:prstGeom>
          <a:solidFill>
            <a:srgbClr val="1C69D4"/>
          </a:solidFill>
          <a:ln/>
        </p:spPr>
      </p:sp>
      <p:sp>
        <p:nvSpPr>
          <p:cNvPr id="40" name="Shape 37"/>
          <p:cNvSpPr/>
          <p:nvPr/>
        </p:nvSpPr>
        <p:spPr>
          <a:xfrm>
            <a:off x="7141464" y="1508760"/>
            <a:ext cx="1591056" cy="169164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41" name="Shape 38"/>
          <p:cNvSpPr/>
          <p:nvPr/>
        </p:nvSpPr>
        <p:spPr>
          <a:xfrm>
            <a:off x="7141464" y="1508760"/>
            <a:ext cx="1591056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269480" y="16550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05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7269480" y="1929384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PLATFORM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7269480" y="214884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AI 플랫폼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7269480" y="251460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축적 데이터 + ML 예측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Assay Kit · 네트워크 효과</a:t>
            </a:r>
            <a:endParaRPr lang="en-US" sz="850" dirty="0"/>
          </a:p>
        </p:txBody>
      </p:sp>
      <p:sp>
        <p:nvSpPr>
          <p:cNvPr id="46" name="Text 43"/>
          <p:cNvSpPr txBox="1"/>
          <p:nvPr/>
        </p:nvSpPr>
        <p:spPr>
          <a:xfrm>
            <a:off x="411480" y="3474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장기 수익 비중 (2030 기준 추정)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11480" y="3749040"/>
            <a:ext cx="2496312" cy="27432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466344" y="374904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장비 30%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2907792" y="3749040"/>
            <a:ext cx="2329891" cy="2743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2962656" y="3749040"/>
            <a:ext cx="22201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소모품 28%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5237683" y="3749040"/>
            <a:ext cx="1664208" cy="274320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5292547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20%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6901891" y="3749040"/>
            <a:ext cx="1164946" cy="27432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6956755" y="3749040"/>
            <a:ext cx="1055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데이터 14%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8066837" y="3749040"/>
            <a:ext cx="665683" cy="27432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8121701" y="3749040"/>
            <a:ext cx="555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플랫폼 8%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411480" y="4498848"/>
            <a:ext cx="832104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58" name="Shape 55"/>
          <p:cNvSpPr/>
          <p:nvPr/>
        </p:nvSpPr>
        <p:spPr>
          <a:xfrm>
            <a:off x="411480" y="4498848"/>
            <a:ext cx="54864" cy="29260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76072" y="44988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핵심메세지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1636776" y="4562856"/>
            <a:ext cx="7315" cy="164592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1746504" y="4498848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중요한 것은 </a:t>
            </a:r>
            <a:pPr indent="0" marL="0">
              <a:buNone/>
            </a:pPr>
            <a:r>
              <a:rPr lang="en-US" sz="105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반복 데이터 + 서비스 매출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— 장비는 진입 게이트일 뿐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03 · GO-GLOBAL STRATEGY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30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일본 → 유럽 → 미국 — Validation 우회 진출 전략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32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미국 선진입 X · 일본·유럽에서 검증 데이터 축적 → 미국 ISTAND 진입</a:t>
            </a:r>
            <a:endParaRPr lang="en-US" sz="1000" dirty="0"/>
          </a:p>
        </p:txBody>
      </p:sp>
      <p:pic>
        <p:nvPicPr>
          <p:cNvPr id="6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"/>
            <a:ext cx="1188720" cy="448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207008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07008"/>
            <a:ext cx="457200" cy="16459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4901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BioSpero · Global Strategy 2026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09 / 13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1480" y="1417320"/>
            <a:ext cx="2682240" cy="283464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13" name="Shape 10"/>
          <p:cNvSpPr/>
          <p:nvPr/>
        </p:nvSpPr>
        <p:spPr>
          <a:xfrm>
            <a:off x="411480" y="1417320"/>
            <a:ext cx="2682240" cy="36576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57784" y="1563624"/>
            <a:ext cx="2389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1순위 / 즉시 실행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557784" y="17830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22718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01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1124712" y="1874520"/>
            <a:ext cx="182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JAPAN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57784" y="2185416"/>
            <a:ext cx="238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첫 상업화 레퍼런스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57784" y="2496312"/>
            <a:ext cx="2389632" cy="10973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57784" y="2587752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TIMING</a:t>
            </a:r>
            <a:endParaRPr lang="en-US" sz="700" dirty="0"/>
          </a:p>
        </p:txBody>
      </p:sp>
      <p:sp>
        <p:nvSpPr>
          <p:cNvPr id="20" name="Text 17"/>
          <p:cNvSpPr txBox="1"/>
          <p:nvPr/>
        </p:nvSpPr>
        <p:spPr>
          <a:xfrm>
            <a:off x="557784" y="2715768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2026 Q2~Q4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557784" y="2880360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PARTNER</a:t>
            </a:r>
            <a:endParaRPr lang="en-US" sz="700" dirty="0"/>
          </a:p>
        </p:txBody>
      </p:sp>
      <p:sp>
        <p:nvSpPr>
          <p:cNvPr id="22" name="Text 19"/>
          <p:cNvSpPr txBox="1"/>
          <p:nvPr/>
        </p:nvSpPr>
        <p:spPr>
          <a:xfrm>
            <a:off x="557784" y="3008376"/>
            <a:ext cx="238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SPI 독점 유통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(Daiichi-Sankyo · Eisai · Astellas)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557784" y="3337560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GOAL</a:t>
            </a:r>
            <a:endParaRPr lang="en-US" sz="700" dirty="0"/>
          </a:p>
        </p:txBody>
      </p:sp>
      <p:sp>
        <p:nvSpPr>
          <p:cNvPr id="24" name="Text 21"/>
          <p:cNvSpPr txBox="1"/>
          <p:nvPr/>
        </p:nvSpPr>
        <p:spPr>
          <a:xfrm>
            <a:off x="557784" y="3465576"/>
            <a:ext cx="238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Top 10 제약사 검증 → 장비 + 소모품 반복 매출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557784" y="3794760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LOGIC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557784" y="3922776"/>
            <a:ext cx="2389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Pre-Marketing 검증 완료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PMDA가 ICH·MFDS와 유사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102864" y="2706624"/>
            <a:ext cx="118872" cy="256032"/>
          </a:xfrm>
          <a:prstGeom prst="chevron">
            <a:avLst/>
          </a:prstGeom>
          <a:solidFill>
            <a:srgbClr val="1C69D4"/>
          </a:solidFill>
          <a:ln/>
        </p:spPr>
      </p:sp>
      <p:sp>
        <p:nvSpPr>
          <p:cNvPr id="28" name="Shape 25"/>
          <p:cNvSpPr/>
          <p:nvPr/>
        </p:nvSpPr>
        <p:spPr>
          <a:xfrm>
            <a:off x="3230880" y="1417320"/>
            <a:ext cx="2682240" cy="2834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Shape 26"/>
          <p:cNvSpPr/>
          <p:nvPr/>
        </p:nvSpPr>
        <p:spPr>
          <a:xfrm>
            <a:off x="3230880" y="1417320"/>
            <a:ext cx="2682240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377184" y="1563624"/>
            <a:ext cx="2389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2순위 / 18~24개월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3377184" y="17830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02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3944112" y="1874520"/>
            <a:ext cx="182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EUROPE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3377184" y="2185416"/>
            <a:ext cx="238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Validation 데이터 · 논문화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3377184" y="2496312"/>
            <a:ext cx="2389632" cy="10973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3377184" y="2587752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TIMING</a:t>
            </a:r>
            <a:endParaRPr lang="en-US" sz="700" dirty="0"/>
          </a:p>
        </p:txBody>
      </p:sp>
      <p:sp>
        <p:nvSpPr>
          <p:cNvPr id="36" name="Text 33"/>
          <p:cNvSpPr txBox="1"/>
          <p:nvPr/>
        </p:nvSpPr>
        <p:spPr>
          <a:xfrm>
            <a:off x="3377184" y="2715768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2026 Q3~2027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3377184" y="2880360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PARTNER</a:t>
            </a:r>
            <a:endParaRPr lang="en-US" sz="700" dirty="0"/>
          </a:p>
        </p:txBody>
      </p:sp>
      <p:sp>
        <p:nvSpPr>
          <p:cNvPr id="38" name="Text 35"/>
          <p:cNvSpPr txBox="1"/>
          <p:nvPr/>
        </p:nvSpPr>
        <p:spPr>
          <a:xfrm>
            <a:off x="3377184" y="3008376"/>
            <a:ext cx="238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Institut Pasteur (15팀)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Novalix · BRUKER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3377184" y="3337560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GOAL</a:t>
            </a:r>
            <a:endParaRPr lang="en-US" sz="700" dirty="0"/>
          </a:p>
        </p:txBody>
      </p:sp>
      <p:sp>
        <p:nvSpPr>
          <p:cNvPr id="40" name="Text 37"/>
          <p:cNvSpPr txBox="1"/>
          <p:nvPr/>
        </p:nvSpPr>
        <p:spPr>
          <a:xfrm>
            <a:off x="3377184" y="3465576"/>
            <a:ext cx="238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EU 동물실험 대체 정책 선도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→ KOL 논문 + CE 인증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3377184" y="3794760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LOGIC</a:t>
            </a:r>
            <a:endParaRPr lang="en-US" sz="700" dirty="0"/>
          </a:p>
        </p:txBody>
      </p:sp>
      <p:sp>
        <p:nvSpPr>
          <p:cNvPr id="42" name="Text 39"/>
          <p:cNvSpPr txBox="1"/>
          <p:nvPr/>
        </p:nvSpPr>
        <p:spPr>
          <a:xfrm>
            <a:off x="3377184" y="3922776"/>
            <a:ext cx="2389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사회적 합의 + 규제 압력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세계 최고 수준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922264" y="2706624"/>
            <a:ext cx="118872" cy="256032"/>
          </a:xfrm>
          <a:prstGeom prst="chevron">
            <a:avLst/>
          </a:prstGeom>
          <a:solidFill>
            <a:srgbClr val="1C69D4"/>
          </a:solidFill>
          <a:ln/>
        </p:spPr>
      </p:sp>
      <p:sp>
        <p:nvSpPr>
          <p:cNvPr id="44" name="Shape 41"/>
          <p:cNvSpPr/>
          <p:nvPr/>
        </p:nvSpPr>
        <p:spPr>
          <a:xfrm>
            <a:off x="6050280" y="1417320"/>
            <a:ext cx="2682240" cy="2834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Shape 42"/>
          <p:cNvSpPr/>
          <p:nvPr/>
        </p:nvSpPr>
        <p:spPr>
          <a:xfrm>
            <a:off x="6050280" y="1417320"/>
            <a:ext cx="2682240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6196584" y="1563624"/>
            <a:ext cx="2389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3순위 / 12~18개월 병행</a:t>
            </a:r>
            <a:endParaRPr lang="en-US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6196584" y="17830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03</a:t>
            </a:r>
            <a:endParaRPr lang="en-US" sz="2200" dirty="0"/>
          </a:p>
        </p:txBody>
      </p:sp>
      <p:sp>
        <p:nvSpPr>
          <p:cNvPr id="48" name="Text 45"/>
          <p:cNvSpPr txBox="1"/>
          <p:nvPr/>
        </p:nvSpPr>
        <p:spPr>
          <a:xfrm>
            <a:off x="6763512" y="1874520"/>
            <a:ext cx="182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US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6196584" y="2185416"/>
            <a:ext cx="238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FDA ISTAND · 글로벌 표준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196584" y="2496312"/>
            <a:ext cx="2389632" cy="10973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6196584" y="2587752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TIMING</a:t>
            </a:r>
            <a:endParaRPr lang="en-US" sz="700" dirty="0"/>
          </a:p>
        </p:txBody>
      </p:sp>
      <p:sp>
        <p:nvSpPr>
          <p:cNvPr id="52" name="Text 49"/>
          <p:cNvSpPr txBox="1"/>
          <p:nvPr/>
        </p:nvSpPr>
        <p:spPr>
          <a:xfrm>
            <a:off x="6196584" y="2715768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2026 Q3~2028</a:t>
            </a:r>
            <a:endParaRPr lang="en-US" sz="850" dirty="0"/>
          </a:p>
        </p:txBody>
      </p:sp>
      <p:sp>
        <p:nvSpPr>
          <p:cNvPr id="53" name="Text 50"/>
          <p:cNvSpPr txBox="1"/>
          <p:nvPr/>
        </p:nvSpPr>
        <p:spPr>
          <a:xfrm>
            <a:off x="6196584" y="2880360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PARTNER</a:t>
            </a:r>
            <a:endParaRPr lang="en-US" sz="700" dirty="0"/>
          </a:p>
        </p:txBody>
      </p:sp>
      <p:sp>
        <p:nvSpPr>
          <p:cNvPr id="54" name="Text 51"/>
          <p:cNvSpPr txBox="1"/>
          <p:nvPr/>
        </p:nvSpPr>
        <p:spPr>
          <a:xfrm>
            <a:off x="6196584" y="3008376"/>
            <a:ext cx="238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Children's Hospital LA (NDA)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Raritan Valley College</a:t>
            </a:r>
            <a:endParaRPr lang="en-US" sz="850" dirty="0"/>
          </a:p>
        </p:txBody>
      </p:sp>
      <p:sp>
        <p:nvSpPr>
          <p:cNvPr id="55" name="Text 52"/>
          <p:cNvSpPr txBox="1"/>
          <p:nvPr/>
        </p:nvSpPr>
        <p:spPr>
          <a:xfrm>
            <a:off x="6196584" y="3337560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GOAL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6196584" y="3465576"/>
            <a:ext cx="238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Kidney-Chip PoC → CRO 파트너십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→ FDA ISTAND LoI</a:t>
            </a:r>
            <a:endParaRPr lang="en-US" sz="850" dirty="0"/>
          </a:p>
        </p:txBody>
      </p:sp>
      <p:sp>
        <p:nvSpPr>
          <p:cNvPr id="57" name="Text 54"/>
          <p:cNvSpPr txBox="1"/>
          <p:nvPr/>
        </p:nvSpPr>
        <p:spPr>
          <a:xfrm>
            <a:off x="6196584" y="3794760"/>
            <a:ext cx="238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LOGIC</a:t>
            </a:r>
            <a:endParaRPr lang="en-US" sz="700" dirty="0"/>
          </a:p>
        </p:txBody>
      </p:sp>
      <p:sp>
        <p:nvSpPr>
          <p:cNvPr id="58" name="Text 55"/>
          <p:cNvSpPr txBox="1"/>
          <p:nvPr/>
        </p:nvSpPr>
        <p:spPr>
          <a:xfrm>
            <a:off x="6196584" y="3922776"/>
            <a:ext cx="2389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Modernization Act 2.0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NAMs 가이드라인 가속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411480" y="4498848"/>
            <a:ext cx="832104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60" name="Shape 57"/>
          <p:cNvSpPr/>
          <p:nvPr/>
        </p:nvSpPr>
        <p:spPr>
          <a:xfrm>
            <a:off x="411480" y="4498848"/>
            <a:ext cx="54864" cy="29260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576072" y="44988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핵심메세지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1636776" y="4562856"/>
            <a:ext cx="7315" cy="164592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1746504" y="4498848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일본 SPI 서명 + 첫 IND 납품 = 글로벌 진출의 </a:t>
            </a:r>
            <a:pPr indent="0" marL="0">
              <a:buNone/>
            </a:pPr>
            <a:r>
              <a:rPr lang="en-US" sz="105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증명 포인트</a:t>
            </a:r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03 · TARGET CUSTOMER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30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BioSpero의 핵심고객은 누구인가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32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고객군별 BM 차별화 — 제약사 R&amp;D · CRO · 학술 3축 / 화장품 제조사는 비핵심</a:t>
            </a:r>
            <a:endParaRPr lang="en-US" sz="1000" dirty="0"/>
          </a:p>
        </p:txBody>
      </p:sp>
      <p:pic>
        <p:nvPicPr>
          <p:cNvPr id="6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"/>
            <a:ext cx="1188720" cy="448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207008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07008"/>
            <a:ext cx="457200" cy="16459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4901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BioSpero · Global Strategy 2026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10 / 13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1480" y="1417320"/>
            <a:ext cx="1948598" cy="32918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2920" y="1417320"/>
            <a:ext cx="17657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고객군 (예시)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360078" y="1417320"/>
            <a:ext cx="1737939" cy="32918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451518" y="1417320"/>
            <a:ext cx="15550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의사결정 동기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098017" y="1417320"/>
            <a:ext cx="1579944" cy="32918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189457" y="1417320"/>
            <a:ext cx="1397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구매 행태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677961" y="1417320"/>
            <a:ext cx="1948598" cy="32918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769401" y="1417320"/>
            <a:ext cx="17657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BioSpero BM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626559" y="1417320"/>
            <a:ext cx="1105961" cy="32918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17999" y="1417320"/>
            <a:ext cx="9230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우선순위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11480" y="1746504"/>
            <a:ext cx="1948598" cy="6035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746504"/>
            <a:ext cx="36576" cy="60350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39496" y="1819656"/>
            <a:ext cx="17657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글로벌 빅파마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39496" y="2020824"/>
            <a:ext cx="17657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Daiichi-Sankyo · Eisai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Astellas · Pfizer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2360078" y="1746504"/>
            <a:ext cx="1737939" cy="6035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451518" y="1837944"/>
            <a:ext cx="1591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신약 R&amp;D 생산성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(임상 실패율 93% 절감)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098017" y="1746504"/>
            <a:ext cx="1579944" cy="6035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189457" y="1837944"/>
            <a:ext cx="143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장비 직구매 +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소모품 반복 구매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677961" y="1746504"/>
            <a:ext cx="1948598" cy="6035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769401" y="1837944"/>
            <a:ext cx="1802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Hardware + Consumables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(프린터-토너 모델)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7626559" y="1746504"/>
            <a:ext cx="1105961" cy="603504"/>
          </a:xfrm>
          <a:prstGeom prst="rect">
            <a:avLst/>
          </a:prstGeom>
          <a:solidFill>
            <a:srgbClr val="FCE7E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626559" y="1819656"/>
            <a:ext cx="11059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2718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★ 1순위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7681423" y="2057400"/>
            <a:ext cx="9962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일본 SPI 채널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11480" y="2350008"/>
            <a:ext cx="1948598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3"/>
          <p:cNvSpPr/>
          <p:nvPr/>
        </p:nvSpPr>
        <p:spPr>
          <a:xfrm>
            <a:off x="411480" y="2350008"/>
            <a:ext cx="36576" cy="60350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39496" y="2423160"/>
            <a:ext cx="17657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CRO (실험 대행기관)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539496" y="2624328"/>
            <a:ext cx="17657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Charles River · Labcorp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KNOTUS · KCR · DrugBio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2360078" y="2350008"/>
            <a:ext cx="1737939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2451518" y="2441448"/>
            <a:ext cx="1591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메뉴 확장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(NAMs 시장 대응)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098017" y="2350008"/>
            <a:ext cx="1579944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189457" y="2441448"/>
            <a:ext cx="143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장비 + 위탁실험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hybrid 도입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677961" y="2350008"/>
            <a:ext cx="1948598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769401" y="2441448"/>
            <a:ext cx="1802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장비 판매 + BiolabXpert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CRO 위탁 서비스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626559" y="2350008"/>
            <a:ext cx="1105961" cy="603504"/>
          </a:xfrm>
          <a:prstGeom prst="rect">
            <a:avLst/>
          </a:prstGeom>
          <a:solidFill>
            <a:srgbClr val="E3EEFB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7626559" y="2423160"/>
            <a:ext cx="11059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★ 2순위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7681423" y="2660904"/>
            <a:ext cx="9962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한국 시장 우선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411480" y="2953512"/>
            <a:ext cx="1948598" cy="6035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Shape 46"/>
          <p:cNvSpPr/>
          <p:nvPr/>
        </p:nvSpPr>
        <p:spPr>
          <a:xfrm>
            <a:off x="411480" y="2953512"/>
            <a:ext cx="36576" cy="60350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539496" y="3026664"/>
            <a:ext cx="17657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학술 / 연구기관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539496" y="3227832"/>
            <a:ext cx="17657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Institut Pasteur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Children's Hospital LA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2360078" y="2953512"/>
            <a:ext cx="1737939" cy="6035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2451518" y="3044952"/>
            <a:ext cx="1591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논문 · KOL 영향력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공동연구 가치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4098017" y="2953512"/>
            <a:ext cx="1579944" cy="6035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4189457" y="3044952"/>
            <a:ext cx="143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PoC 무상 / 공동연구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레퍼런스 확보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5677961" y="2953512"/>
            <a:ext cx="1948598" cy="6035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5769401" y="3044952"/>
            <a:ext cx="1802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데이터 + KOL 논문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(신뢰 모트 구축)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7626559" y="2953512"/>
            <a:ext cx="1105961" cy="603504"/>
          </a:xfrm>
          <a:prstGeom prst="rect">
            <a:avLst/>
          </a:prstGeom>
          <a:solidFill>
            <a:srgbClr val="E3EEFB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7626559" y="3026664"/>
            <a:ext cx="11059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69D4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★ 3순위</a:t>
            </a:r>
            <a:endParaRPr lang="en-US" sz="1100" dirty="0"/>
          </a:p>
        </p:txBody>
      </p:sp>
      <p:sp>
        <p:nvSpPr>
          <p:cNvPr id="60" name="Text 57"/>
          <p:cNvSpPr txBox="1"/>
          <p:nvPr/>
        </p:nvSpPr>
        <p:spPr>
          <a:xfrm>
            <a:off x="7681423" y="3264408"/>
            <a:ext cx="9962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신뢰 인프라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411480" y="3557016"/>
            <a:ext cx="1948598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59"/>
          <p:cNvSpPr/>
          <p:nvPr/>
        </p:nvSpPr>
        <p:spPr>
          <a:xfrm>
            <a:off x="411480" y="3557016"/>
            <a:ext cx="36576" cy="60350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539496" y="3630168"/>
            <a:ext cx="17657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화장품 제조사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539496" y="3831336"/>
            <a:ext cx="17657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L'Oreal · AmorePacific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LG생활건강</a:t>
            </a:r>
            <a:endParaRPr lang="en-US" sz="750" dirty="0"/>
          </a:p>
        </p:txBody>
      </p:sp>
      <p:sp>
        <p:nvSpPr>
          <p:cNvPr id="65" name="Shape 62"/>
          <p:cNvSpPr/>
          <p:nvPr/>
        </p:nvSpPr>
        <p:spPr>
          <a:xfrm>
            <a:off x="2360078" y="3557016"/>
            <a:ext cx="1737939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2451518" y="3648456"/>
            <a:ext cx="1591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동물실험 금지 대응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(EU 2013~)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4098017" y="3557016"/>
            <a:ext cx="1579944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4189457" y="3648456"/>
            <a:ext cx="143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단일 피부 모델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(Episkin·EpiDerm)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5677961" y="3557016"/>
            <a:ext cx="1948598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5769401" y="3648456"/>
            <a:ext cx="1802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OoC 적합도 낮음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(다장기 모사 불필요)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7626559" y="3557016"/>
            <a:ext cx="1105961" cy="6035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7626559" y="3630168"/>
            <a:ext cx="11059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비핵심</a:t>
            </a:r>
            <a:endParaRPr lang="en-US" sz="1100" dirty="0"/>
          </a:p>
        </p:txBody>
      </p:sp>
      <p:sp>
        <p:nvSpPr>
          <p:cNvPr id="73" name="Text 70"/>
          <p:cNvSpPr txBox="1"/>
          <p:nvPr/>
        </p:nvSpPr>
        <p:spPr>
          <a:xfrm>
            <a:off x="7681423" y="3867912"/>
            <a:ext cx="9962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오버엔지니어링</a:t>
            </a:r>
            <a:endParaRPr lang="en-US" sz="750" dirty="0"/>
          </a:p>
        </p:txBody>
      </p:sp>
      <p:sp>
        <p:nvSpPr>
          <p:cNvPr id="74" name="Shape 71"/>
          <p:cNvSpPr/>
          <p:nvPr/>
        </p:nvSpPr>
        <p:spPr>
          <a:xfrm>
            <a:off x="411480" y="4206240"/>
            <a:ext cx="8321040" cy="237744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75" name="Shape 72"/>
          <p:cNvSpPr/>
          <p:nvPr/>
        </p:nvSpPr>
        <p:spPr>
          <a:xfrm>
            <a:off x="411480" y="4206240"/>
            <a:ext cx="45720" cy="23774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576072" y="42062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왜 화장품 제조사는 핵심이 아닌가 — 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단일조직(피부) 안전성만 검증, 3D 피부 모델로 충분. OoC는 </a:t>
            </a:r>
            <a:pPr indent="0" marL="0">
              <a:buNone/>
            </a:pPr>
            <a:r>
              <a:rPr lang="en-US" sz="85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신약 임상 예측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에서 진짜 가치.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411480" y="4498848"/>
            <a:ext cx="832104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78" name="Shape 75"/>
          <p:cNvSpPr/>
          <p:nvPr/>
        </p:nvSpPr>
        <p:spPr>
          <a:xfrm>
            <a:off x="411480" y="4498848"/>
            <a:ext cx="54864" cy="29260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576072" y="44988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핵심메세지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1636776" y="4562856"/>
            <a:ext cx="7315" cy="164592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1746504" y="4498848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1차 = </a:t>
            </a:r>
            <a:pPr indent="0" marL="0">
              <a:buNone/>
            </a:pPr>
            <a:r>
              <a:rPr lang="en-US" sz="105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제약사 R&amp;D 직판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(일본 SPI), 2차 = CRO 서비스 (한국), 3차 = 학술 KOL — 화장품은 비핵심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04 · EXECUTION ROADMAP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30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2026 → 2029 — Multi-Lane 실행 로드맵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32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핵심 과제는 기술개발이 아닌 Validation Data 축적</a:t>
            </a:r>
            <a:endParaRPr lang="en-US" sz="1000" dirty="0"/>
          </a:p>
        </p:txBody>
      </p:sp>
      <p:pic>
        <p:nvPicPr>
          <p:cNvPr id="6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"/>
            <a:ext cx="1188720" cy="448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207008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07008"/>
            <a:ext cx="457200" cy="16459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4901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BioSpero · Global Strategy 2026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11 / 13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1480" y="1417320"/>
            <a:ext cx="100584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2920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TRACK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417320" y="1417320"/>
            <a:ext cx="182880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417320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2026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46120" y="1417320"/>
            <a:ext cx="182880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246120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2027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74920" y="1417320"/>
            <a:ext cx="182880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074920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2028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903720" y="1417320"/>
            <a:ext cx="182880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903720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2029+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11480" y="1746504"/>
            <a:ext cx="1005840" cy="53035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746504"/>
            <a:ext cx="36576" cy="530352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74650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JAPAN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417320" y="1746504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1508760" y="1837944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655064" y="180136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SPI 독점계약 서명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첫 제품 납품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46120" y="1746504"/>
            <a:ext cx="1828800" cy="530352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29" name="Shape 26"/>
          <p:cNvSpPr/>
          <p:nvPr/>
        </p:nvSpPr>
        <p:spPr>
          <a:xfrm>
            <a:off x="3337560" y="1837944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483864" y="180136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Top 10 제약사 중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2~3개사 유료계약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074920" y="1746504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5166360" y="1837944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312664" y="180136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소모품 반복매출 안정화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 10개사 이상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903720" y="1746504"/>
            <a:ext cx="1828800" cy="530352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35" name="Shape 32"/>
          <p:cNvSpPr/>
          <p:nvPr/>
        </p:nvSpPr>
        <p:spPr>
          <a:xfrm>
            <a:off x="6995160" y="1837944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141464" y="180136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PMDA 데이터 축적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표준화 참여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11480" y="2313432"/>
            <a:ext cx="1005840" cy="53035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Shape 35"/>
          <p:cNvSpPr/>
          <p:nvPr/>
        </p:nvSpPr>
        <p:spPr>
          <a:xfrm>
            <a:off x="411480" y="2313432"/>
            <a:ext cx="36576" cy="530352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21208" y="231343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EUROPE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417320" y="2313432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8"/>
          <p:cNvSpPr/>
          <p:nvPr/>
        </p:nvSpPr>
        <p:spPr>
          <a:xfrm>
            <a:off x="1508760" y="2404872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1655064" y="2368296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Pasteur MOU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Novalix·BRUKER 협력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46120" y="2313432"/>
            <a:ext cx="1828800" cy="530352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44" name="Shape 41"/>
          <p:cNvSpPr/>
          <p:nvPr/>
        </p:nvSpPr>
        <p:spPr>
          <a:xfrm>
            <a:off x="3337560" y="2404872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3483864" y="2368296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유럽 제약사 3~5개사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공동 솔루션 런칭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5074920" y="2313432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4"/>
          <p:cNvSpPr/>
          <p:nvPr/>
        </p:nvSpPr>
        <p:spPr>
          <a:xfrm>
            <a:off x="5166360" y="2404872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5312664" y="2368296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CE 인증 착수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전시회 독립 참가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903720" y="2313432"/>
            <a:ext cx="1828800" cy="530352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50" name="Shape 47"/>
          <p:cNvSpPr/>
          <p:nvPr/>
        </p:nvSpPr>
        <p:spPr>
          <a:xfrm>
            <a:off x="6995160" y="2404872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7141464" y="2368296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EMA NAMs 참여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유통사 정식 계약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411480" y="2880360"/>
            <a:ext cx="1005840" cy="53035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3" name="Shape 50"/>
          <p:cNvSpPr/>
          <p:nvPr/>
        </p:nvSpPr>
        <p:spPr>
          <a:xfrm>
            <a:off x="411480" y="2880360"/>
            <a:ext cx="36576" cy="530352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521208" y="28803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US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1417320" y="2880360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3"/>
          <p:cNvSpPr/>
          <p:nvPr/>
        </p:nvSpPr>
        <p:spPr>
          <a:xfrm>
            <a:off x="1508760" y="2971800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1655064" y="2935224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Children's Hospital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Kidney-Chip PoC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3246120" y="2880360"/>
            <a:ext cx="1828800" cy="530352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59" name="Shape 56"/>
          <p:cNvSpPr/>
          <p:nvPr/>
        </p:nvSpPr>
        <p:spPr>
          <a:xfrm>
            <a:off x="3337560" y="2971800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3483864" y="2935224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KOL 논문 1편↑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CRO 1개 협의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5074920" y="2880360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59"/>
          <p:cNvSpPr/>
          <p:nvPr/>
        </p:nvSpPr>
        <p:spPr>
          <a:xfrm>
            <a:off x="5166360" y="2971800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5312664" y="2935224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ISTAND 사전 미팅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미국 법인 운영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6903720" y="2880360"/>
            <a:ext cx="1828800" cy="530352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65" name="Shape 62"/>
          <p:cNvSpPr/>
          <p:nvPr/>
        </p:nvSpPr>
        <p:spPr>
          <a:xfrm>
            <a:off x="6995160" y="2971800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7141464" y="2935224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ISTAND LoI 제출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공식 등록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411480" y="3447288"/>
            <a:ext cx="1005840" cy="53035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8" name="Shape 65"/>
          <p:cNvSpPr/>
          <p:nvPr/>
        </p:nvSpPr>
        <p:spPr>
          <a:xfrm>
            <a:off x="411480" y="3447288"/>
            <a:ext cx="36576" cy="530352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521208" y="344728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2A47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PRODUCT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1417320" y="3447288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Shape 68"/>
          <p:cNvSpPr/>
          <p:nvPr/>
        </p:nvSpPr>
        <p:spPr>
          <a:xfrm>
            <a:off x="1508760" y="3538728"/>
            <a:ext cx="91440" cy="91440"/>
          </a:xfrm>
          <a:prstGeom prst="ellipse">
            <a:avLst/>
          </a:prstGeom>
          <a:solidFill>
            <a:srgbClr val="E22718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1655064" y="350215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OrganXpert Pro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(n=12) 출시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3246120" y="3447288"/>
            <a:ext cx="1828800" cy="530352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74" name="Shape 71"/>
          <p:cNvSpPr/>
          <p:nvPr/>
        </p:nvSpPr>
        <p:spPr>
          <a:xfrm>
            <a:off x="3337560" y="3538728"/>
            <a:ext cx="91440" cy="91440"/>
          </a:xfrm>
          <a:prstGeom prst="ellipse">
            <a:avLst/>
          </a:prstGeom>
          <a:solidFill>
            <a:srgbClr val="E22718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3483864" y="350215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OrganXpert-BBB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Liver 출시</a:t>
            </a:r>
            <a:endParaRPr lang="en-US" sz="850" dirty="0"/>
          </a:p>
        </p:txBody>
      </p:sp>
      <p:sp>
        <p:nvSpPr>
          <p:cNvPr id="76" name="Shape 73"/>
          <p:cNvSpPr/>
          <p:nvPr/>
        </p:nvSpPr>
        <p:spPr>
          <a:xfrm>
            <a:off x="5074920" y="3447288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Shape 74"/>
          <p:cNvSpPr/>
          <p:nvPr/>
        </p:nvSpPr>
        <p:spPr>
          <a:xfrm>
            <a:off x="5166360" y="3538728"/>
            <a:ext cx="91440" cy="91440"/>
          </a:xfrm>
          <a:prstGeom prst="ellipse">
            <a:avLst/>
          </a:prstGeom>
          <a:solidFill>
            <a:srgbClr val="E22718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5312664" y="350215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Embodied OrganXpert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(100+ 칩) 출시</a:t>
            </a:r>
            <a:endParaRPr lang="en-US" sz="850" dirty="0"/>
          </a:p>
        </p:txBody>
      </p:sp>
      <p:sp>
        <p:nvSpPr>
          <p:cNvPr id="79" name="Shape 76"/>
          <p:cNvSpPr/>
          <p:nvPr/>
        </p:nvSpPr>
        <p:spPr>
          <a:xfrm>
            <a:off x="6903720" y="3447288"/>
            <a:ext cx="1828800" cy="530352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80" name="Shape 77"/>
          <p:cNvSpPr/>
          <p:nvPr/>
        </p:nvSpPr>
        <p:spPr>
          <a:xfrm>
            <a:off x="6995160" y="3538728"/>
            <a:ext cx="91440" cy="91440"/>
          </a:xfrm>
          <a:prstGeom prst="ellipse">
            <a:avLst/>
          </a:prstGeom>
          <a:solidFill>
            <a:srgbClr val="E22718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7141464" y="350215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통합 플랫폼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멀티오믹스 연동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1435608" y="4105656"/>
            <a:ext cx="1792224" cy="20116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1490472" y="410565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Phase 0–1 · 시장 검증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3264408" y="4105656"/>
            <a:ext cx="1792224" cy="20116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3319272" y="410565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Phase 2 · 매출 확대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5093208" y="4105656"/>
            <a:ext cx="1792224" cy="201168"/>
          </a:xfrm>
          <a:prstGeom prst="rect">
            <a:avLst/>
          </a:prstGeom>
          <a:solidFill>
            <a:srgbClr val="0653B6"/>
          </a:solidFill>
          <a:ln/>
        </p:spPr>
      </p:sp>
      <p:sp>
        <p:nvSpPr>
          <p:cNvPr id="87" name="Text 84"/>
          <p:cNvSpPr txBox="1"/>
          <p:nvPr/>
        </p:nvSpPr>
        <p:spPr>
          <a:xfrm>
            <a:off x="5148072" y="410565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Phase 3 · 규제 인증</a:t>
            </a:r>
            <a:endParaRPr lang="en-US" sz="800" dirty="0"/>
          </a:p>
        </p:txBody>
      </p:sp>
      <p:sp>
        <p:nvSpPr>
          <p:cNvPr id="88" name="Shape 85"/>
          <p:cNvSpPr/>
          <p:nvPr/>
        </p:nvSpPr>
        <p:spPr>
          <a:xfrm>
            <a:off x="6922008" y="4105656"/>
            <a:ext cx="1792224" cy="20116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6976872" y="410565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글로벌 확장 · IPO</a:t>
            </a:r>
            <a:endParaRPr lang="en-US" sz="800" dirty="0"/>
          </a:p>
        </p:txBody>
      </p:sp>
      <p:sp>
        <p:nvSpPr>
          <p:cNvPr id="90" name="Shape 87"/>
          <p:cNvSpPr/>
          <p:nvPr/>
        </p:nvSpPr>
        <p:spPr>
          <a:xfrm>
            <a:off x="411480" y="4498848"/>
            <a:ext cx="832104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91" name="Shape 88"/>
          <p:cNvSpPr/>
          <p:nvPr/>
        </p:nvSpPr>
        <p:spPr>
          <a:xfrm>
            <a:off x="411480" y="4498848"/>
            <a:ext cx="54864" cy="29260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2" name="Text 89"/>
          <p:cNvSpPr txBox="1"/>
          <p:nvPr/>
        </p:nvSpPr>
        <p:spPr>
          <a:xfrm>
            <a:off x="576072" y="44988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핵심메세지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1636776" y="4562856"/>
            <a:ext cx="7315" cy="164592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1746504" y="4498848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기술개발 &lt; Validation Data 축적 — </a:t>
            </a:r>
            <a:pPr indent="0" marL="0">
              <a:buNone/>
            </a:pPr>
            <a:r>
              <a:rPr lang="en-US" sz="105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데이터 모트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가 진짜 경쟁력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04 · RISKS &amp; RECOMMENDATION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30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핵심 리스크 4가지와 대응 전략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32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장비 판매만으로는 성장 한계 — 서비스·데이터 BM 강화 필수</a:t>
            </a:r>
            <a:endParaRPr lang="en-US" sz="1000" dirty="0"/>
          </a:p>
        </p:txBody>
      </p:sp>
      <p:pic>
        <p:nvPicPr>
          <p:cNvPr id="6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"/>
            <a:ext cx="1188720" cy="448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207008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07008"/>
            <a:ext cx="457200" cy="16459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4901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BioSpero · Global Strategy 2026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12 / 13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1480" y="1417320"/>
            <a:ext cx="4114800" cy="3017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11480" y="1417320"/>
            <a:ext cx="4114800" cy="3657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" y="15453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RISK MATRIX · LIKELIHOOD × IMPACT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914400" y="1874520"/>
            <a:ext cx="1691640" cy="8915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3"/>
          <p:cNvSpPr/>
          <p:nvPr/>
        </p:nvSpPr>
        <p:spPr>
          <a:xfrm>
            <a:off x="2606040" y="1874520"/>
            <a:ext cx="1691640" cy="891540"/>
          </a:xfrm>
          <a:prstGeom prst="rect">
            <a:avLst/>
          </a:prstGeom>
          <a:solidFill>
            <a:srgbClr val="FCE7E6"/>
          </a:solidFill>
          <a:ln/>
        </p:spPr>
      </p:sp>
      <p:sp>
        <p:nvSpPr>
          <p:cNvPr id="17" name="Shape 14"/>
          <p:cNvSpPr/>
          <p:nvPr/>
        </p:nvSpPr>
        <p:spPr>
          <a:xfrm>
            <a:off x="914400" y="2766060"/>
            <a:ext cx="1691640" cy="8915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2606040" y="2766060"/>
            <a:ext cx="1691640" cy="89154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19" name="Shape 16"/>
          <p:cNvSpPr/>
          <p:nvPr/>
        </p:nvSpPr>
        <p:spPr>
          <a:xfrm>
            <a:off x="914400" y="3657600"/>
            <a:ext cx="3383280" cy="10973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0" name="Shape 17"/>
          <p:cNvSpPr/>
          <p:nvPr/>
        </p:nvSpPr>
        <p:spPr>
          <a:xfrm>
            <a:off x="914400" y="1874520"/>
            <a:ext cx="10973" cy="17830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1" name="Shape 18"/>
          <p:cNvSpPr/>
          <p:nvPr/>
        </p:nvSpPr>
        <p:spPr>
          <a:xfrm>
            <a:off x="914400" y="2766060"/>
            <a:ext cx="3383280" cy="7315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22" name="Shape 19"/>
          <p:cNvSpPr/>
          <p:nvPr/>
        </p:nvSpPr>
        <p:spPr>
          <a:xfrm>
            <a:off x="2606040" y="1874520"/>
            <a:ext cx="7315" cy="1783080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31520" y="17282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IMPACT →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37033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64748B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LIKELIHOOD →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2272284" y="1977390"/>
            <a:ext cx="329184" cy="329184"/>
          </a:xfrm>
          <a:prstGeom prst="ellipse">
            <a:avLst/>
          </a:prstGeom>
          <a:solidFill>
            <a:srgbClr val="E2271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272284" y="197739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R1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388766" y="2512314"/>
            <a:ext cx="329184" cy="329184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388766" y="25123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R2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610612" y="2334006"/>
            <a:ext cx="329184" cy="329184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2610612" y="23340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R3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625596" y="2244852"/>
            <a:ext cx="329184" cy="329184"/>
          </a:xfrm>
          <a:prstGeom prst="ellipse">
            <a:avLst/>
          </a:prstGeom>
          <a:solidFill>
            <a:srgbClr val="E2271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3625596" y="22448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R4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764792" y="1888236"/>
            <a:ext cx="329184" cy="329184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764792" y="18882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R5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594360" y="372160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64748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RISK INDEX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594360" y="3922776"/>
            <a:ext cx="91440" cy="91440"/>
          </a:xfrm>
          <a:prstGeom prst="ellipse">
            <a:avLst/>
          </a:prstGeom>
          <a:solidFill>
            <a:srgbClr val="E22718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40664" y="3886200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R1 · FDA Validation 미통과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2468880" y="3922776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2615184" y="3886200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R2 · 경쟁 심화 (Emulate)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594360" y="4087368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40664" y="4050792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R3 · 고객 전환 지연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2468880" y="4087368"/>
            <a:ext cx="91440" cy="91440"/>
          </a:xfrm>
          <a:prstGeom prst="ellipse">
            <a:avLst/>
          </a:prstGeom>
          <a:solidFill>
            <a:srgbClr val="E22718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2615184" y="4050792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R4 · 인력 부족 (현 11명)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594360" y="4251960"/>
            <a:ext cx="91440" cy="9144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740664" y="4215384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R5 · SPI 계약 지연</a:t>
            </a:r>
            <a:endParaRPr lang="en-US" sz="750" dirty="0"/>
          </a:p>
        </p:txBody>
      </p:sp>
      <p:sp>
        <p:nvSpPr>
          <p:cNvPr id="46" name="Text 43"/>
          <p:cNvSpPr txBox="1"/>
          <p:nvPr/>
        </p:nvSpPr>
        <p:spPr>
          <a:xfrm>
            <a:off x="4709160" y="1417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MITIGATION · 대응 전략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709160" y="1709928"/>
            <a:ext cx="40233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Shape 45"/>
          <p:cNvSpPr/>
          <p:nvPr/>
        </p:nvSpPr>
        <p:spPr>
          <a:xfrm>
            <a:off x="4709160" y="1709928"/>
            <a:ext cx="36576" cy="45720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4855464" y="174650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REGULATION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855464" y="1892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FDA ISTAND 조기 참여 + OECD TG 등재 가속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KOL 논문으로 87% 독성 식별 데이터 재현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4709160" y="2221992"/>
            <a:ext cx="40233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2" name="Shape 49"/>
          <p:cNvSpPr/>
          <p:nvPr/>
        </p:nvSpPr>
        <p:spPr>
          <a:xfrm>
            <a:off x="4709160" y="2221992"/>
            <a:ext cx="36576" cy="45720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4855464" y="225856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COMPETITION</a:t>
            </a:r>
            <a:endParaRPr lang="en-US" sz="750" dirty="0"/>
          </a:p>
        </p:txBody>
      </p:sp>
      <p:sp>
        <p:nvSpPr>
          <p:cNvPr id="54" name="Text 51"/>
          <p:cNvSpPr txBox="1"/>
          <p:nvPr/>
        </p:nvSpPr>
        <p:spPr>
          <a:xfrm>
            <a:off x="4855464" y="2404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Emulate 공략 불가 영역 집중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아시아 특이질환 · Multi-OoC · 가격 접근성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4709160" y="2734056"/>
            <a:ext cx="40233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6" name="Shape 53"/>
          <p:cNvSpPr/>
          <p:nvPr/>
        </p:nvSpPr>
        <p:spPr>
          <a:xfrm>
            <a:off x="4709160" y="2734056"/>
            <a:ext cx="36576" cy="45720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4855464" y="277063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ADOPTION</a:t>
            </a:r>
            <a:endParaRPr lang="en-US" sz="750" dirty="0"/>
          </a:p>
        </p:txBody>
      </p:sp>
      <p:sp>
        <p:nvSpPr>
          <p:cNvPr id="58" name="Text 55"/>
          <p:cNvSpPr txBox="1"/>
          <p:nvPr/>
        </p:nvSpPr>
        <p:spPr>
          <a:xfrm>
            <a:off x="4855464" y="2916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PoC 무상 제공 → 데이터 모트 구축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공동연구 기반 신뢰 점진 축적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4709160" y="3246120"/>
            <a:ext cx="40233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0" name="Shape 57"/>
          <p:cNvSpPr/>
          <p:nvPr/>
        </p:nvSpPr>
        <p:spPr>
          <a:xfrm>
            <a:off x="4709160" y="3246120"/>
            <a:ext cx="36576" cy="45720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855464" y="32826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CAPACITY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4855464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투자금 40% 영업·기술 인력 충원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SPI 현지 영업 + 본사 기술지원 분담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4709160" y="3758184"/>
            <a:ext cx="40233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4" name="Shape 61"/>
          <p:cNvSpPr/>
          <p:nvPr/>
        </p:nvSpPr>
        <p:spPr>
          <a:xfrm>
            <a:off x="4709160" y="3758184"/>
            <a:ext cx="36576" cy="45720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4855464" y="379476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BM SHIFT</a:t>
            </a:r>
            <a:endParaRPr lang="en-US" sz="750" dirty="0"/>
          </a:p>
        </p:txBody>
      </p:sp>
      <p:sp>
        <p:nvSpPr>
          <p:cNvPr id="66" name="Text 63"/>
          <p:cNvSpPr txBox="1"/>
          <p:nvPr/>
        </p:nvSpPr>
        <p:spPr>
          <a:xfrm>
            <a:off x="4855464" y="3941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장비 단일 매출 한계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 BiolabXpert CRO 서비스 강화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411480" y="4498848"/>
            <a:ext cx="8321040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68" name="Shape 65"/>
          <p:cNvSpPr/>
          <p:nvPr/>
        </p:nvSpPr>
        <p:spPr>
          <a:xfrm>
            <a:off x="411480" y="4498848"/>
            <a:ext cx="54864" cy="29260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576072" y="44988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핵심메세지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1636776" y="4562856"/>
            <a:ext cx="7315" cy="164592"/>
          </a:xfrm>
          <a:prstGeom prst="rect">
            <a:avLst/>
          </a:prstGeom>
          <a:solidFill>
            <a:srgbClr val="16365B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1746504" y="4498848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리스크는 명확 · 대응책도 명확 — 핵심은 </a:t>
            </a:r>
            <a:pPr indent="0" marL="0">
              <a:buNone/>
            </a:pPr>
            <a:r>
              <a:rPr lang="en-US" sz="105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실행 속도와 데이터 우선순위</a:t>
            </a:r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3" name="Shape 1"/>
          <p:cNvSpPr/>
          <p:nvPr/>
        </p:nvSpPr>
        <p:spPr>
          <a:xfrm>
            <a:off x="7406640" y="292608"/>
            <a:ext cx="1371600" cy="56692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/sessions/zen-exciting-thompson/biospero/gv_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65760"/>
            <a:ext cx="1188720" cy="4480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" y="4114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PART 04 · FINAL CONCLUSION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7132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OoC 시장은 구조적 성장 국면 · BioSpero는 commercialization 단계 진입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457200" cy="1828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280160"/>
            <a:ext cx="8321040" cy="7315"/>
          </a:xfrm>
          <a:prstGeom prst="rect">
            <a:avLst/>
          </a:prstGeom>
          <a:solidFill>
            <a:srgbClr val="1A3654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1481328"/>
            <a:ext cx="2011680" cy="87782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0" name="Shape 7"/>
          <p:cNvSpPr/>
          <p:nvPr/>
        </p:nvSpPr>
        <p:spPr>
          <a:xfrm>
            <a:off x="411480" y="1481328"/>
            <a:ext cx="201168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57784" y="15727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14984" y="16093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WHY NOW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" y="1847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임상 실패율 93%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FDA Mod Act 2.0 + NAMs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14600" y="1481328"/>
            <a:ext cx="2011680" cy="87782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5" name="Shape 12"/>
          <p:cNvSpPr/>
          <p:nvPr/>
        </p:nvSpPr>
        <p:spPr>
          <a:xfrm>
            <a:off x="2514600" y="1481328"/>
            <a:ext cx="201168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660904" y="15727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118104" y="16093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WHY BIOSPERO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2660904" y="1847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샘플량 25배·배양액 6배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순환식 펌프 안정성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17720" y="1481328"/>
            <a:ext cx="2011680" cy="87782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20" name="Shape 17"/>
          <p:cNvSpPr/>
          <p:nvPr/>
        </p:nvSpPr>
        <p:spPr>
          <a:xfrm>
            <a:off x="4617720" y="1481328"/>
            <a:ext cx="201168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764024" y="15727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221224" y="16093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GO-GLOBAL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764024" y="1847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일본 SPI → 유럽 검증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→ 미국 FDA ISTAND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720840" y="1481328"/>
            <a:ext cx="2011680" cy="87782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25" name="Shape 22"/>
          <p:cNvSpPr/>
          <p:nvPr/>
        </p:nvSpPr>
        <p:spPr>
          <a:xfrm>
            <a:off x="6720840" y="1481328"/>
            <a:ext cx="201168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867144" y="15727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324344" y="16093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GROWTH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867144" y="1847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장비 → 소모품 → 서비스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→ 데이터 → 플랫폼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411480" y="26517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FINAL FORMULA — BioSpero가 향하는 본질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2962656"/>
            <a:ext cx="1360170" cy="60350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31" name="Shape 28"/>
          <p:cNvSpPr/>
          <p:nvPr/>
        </p:nvSpPr>
        <p:spPr>
          <a:xfrm>
            <a:off x="411480" y="2962656"/>
            <a:ext cx="136017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11480" y="3127248"/>
            <a:ext cx="1360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Hardware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771650" y="2962656"/>
            <a:ext cx="228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+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2000250" y="2962656"/>
            <a:ext cx="1360170" cy="60350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35" name="Shape 32"/>
          <p:cNvSpPr/>
          <p:nvPr/>
        </p:nvSpPr>
        <p:spPr>
          <a:xfrm>
            <a:off x="2000250" y="2962656"/>
            <a:ext cx="136017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000250" y="3127248"/>
            <a:ext cx="1360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Consumables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3360420" y="2962656"/>
            <a:ext cx="228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+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589020" y="2962656"/>
            <a:ext cx="1360170" cy="60350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39" name="Shape 36"/>
          <p:cNvSpPr/>
          <p:nvPr/>
        </p:nvSpPr>
        <p:spPr>
          <a:xfrm>
            <a:off x="3589020" y="2962656"/>
            <a:ext cx="136017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3589020" y="3127248"/>
            <a:ext cx="1360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Service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4949190" y="2962656"/>
            <a:ext cx="228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+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5177790" y="2962656"/>
            <a:ext cx="1360170" cy="603504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43" name="Shape 40"/>
          <p:cNvSpPr/>
          <p:nvPr/>
        </p:nvSpPr>
        <p:spPr>
          <a:xfrm>
            <a:off x="5177790" y="2962656"/>
            <a:ext cx="136017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177790" y="3127248"/>
            <a:ext cx="1360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Data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6537960" y="296265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=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6903720" y="2962656"/>
            <a:ext cx="1828800" cy="60350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6903720" y="305409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Nonclinical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 ExtraBold" pitchFamily="34" charset="0"/>
                <a:ea typeface="NanumSquare ExtraBold" pitchFamily="34" charset="-122"/>
                <a:cs typeface="NanumSquare ExtraBold" pitchFamily="34" charset="-120"/>
              </a:rPr>
              <a:t>Platform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11480" y="3840480"/>
            <a:ext cx="8321040" cy="566928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49" name="Shape 46"/>
          <p:cNvSpPr/>
          <p:nvPr/>
        </p:nvSpPr>
        <p:spPr>
          <a:xfrm>
            <a:off x="411480" y="3840480"/>
            <a:ext cx="54864" cy="566928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576072" y="3877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400" kern="0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핵심메세지</a:t>
            </a:r>
            <a:endParaRPr lang="en-US" sz="850" dirty="0"/>
          </a:p>
        </p:txBody>
      </p:sp>
      <p:sp>
        <p:nvSpPr>
          <p:cNvPr id="51" name="Text 48"/>
          <p:cNvSpPr txBox="1"/>
          <p:nvPr/>
        </p:nvSpPr>
        <p:spPr>
          <a:xfrm>
            <a:off x="576072" y="40416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BioSpero의 경쟁력은 chip이 아니라 </a:t>
            </a:r>
            <a:pPr indent="0" marL="0">
              <a:buNone/>
            </a:pPr>
            <a:r>
              <a:rPr lang="en-US" sz="115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글로벌 제약사가 신뢰하는 데이터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를 얼마나 빠르게 축적하는가에 달려 있다.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411480" y="4617720"/>
            <a:ext cx="8321040" cy="7315"/>
          </a:xfrm>
          <a:prstGeom prst="rect">
            <a:avLst/>
          </a:prstGeom>
          <a:solidFill>
            <a:srgbClr val="1A3654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411480" y="47183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FA9C5"/>
                </a:solidFill>
                <a:latin typeface="NanumSquare Light" pitchFamily="34" charset="0"/>
                <a:ea typeface="NanumSquare Light" pitchFamily="34" charset="-122"/>
                <a:cs typeface="NanumSquare Light" pitchFamily="34" charset="-120"/>
              </a:rPr>
              <a:t>(주)바이오스페로 · Global Strategy 2026</a:t>
            </a:r>
            <a:endParaRPr lang="en-US" sz="850" dirty="0"/>
          </a:p>
        </p:txBody>
      </p:sp>
      <p:sp>
        <p:nvSpPr>
          <p:cNvPr id="54" name="Text 51"/>
          <p:cNvSpPr txBox="1"/>
          <p:nvPr/>
        </p:nvSpPr>
        <p:spPr>
          <a:xfrm>
            <a:off x="7223760" y="471830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0A5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13 / 13 — END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2026-05-08T17:07:29Z</dcterms:created>
  <dcterms:modified xsi:type="dcterms:W3CDTF">2026-05-08T17:07:29Z</dcterms:modified>
</cp:coreProperties>
</file>