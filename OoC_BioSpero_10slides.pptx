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45720" cy="5143500"/>
          </a:xfrm>
          <a:prstGeom prst="rect">
            <a:avLst/>
          </a:prstGeom>
          <a:solidFill>
            <a:srgbClr val="1C69D4"/>
          </a:solidFill>
          <a:ln/>
        </p:spPr>
      </p:sp>
      <p:pic>
        <p:nvPicPr>
          <p:cNvPr id="5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"/>
            <a:ext cx="1188720" cy="4480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005840"/>
            <a:ext cx="1005840" cy="7315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· GLOBAL STRATEGY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Organ-on-Chip의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글로벌 진출 전략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329184" cy="22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127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(주)바이오스페로 — 비임상 플랫폼 사업 해외진출전략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01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Why Now · Why BioSpero · Go-Global · Growth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3931920"/>
            <a:ext cx="96012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MARKET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783080" y="3931920"/>
            <a:ext cx="128016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6" name="Shape 13"/>
          <p:cNvSpPr/>
          <p:nvPr/>
        </p:nvSpPr>
        <p:spPr>
          <a:xfrm>
            <a:off x="178308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745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54680" y="3931920"/>
            <a:ext cx="77724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315468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246120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023360" y="3931920"/>
            <a:ext cx="109728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402336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11480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PLATFORM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4617720"/>
            <a:ext cx="9144000" cy="2560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47183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발표자: Ran Kim · Head of Scale-up · Gravity Ventures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0" y="4718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01 · WHY NOW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왜 지금인가 — 신약개발의 구조적 비효율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동물실험은 더 이상 충분한 예측 도구가 아니다 · 규제는 이미 움직이기 시작했다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02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20116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" y="15636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93%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임상 실패율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동물실험 통과 신약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임상 단계 실패 (Shanks et al.)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14600" y="1417320"/>
            <a:ext cx="20116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660904" y="15636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$1.5B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2660904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1개 신약 개발비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660904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평균 12년 소요 / 비효율의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근원은 비임상 단계 예측력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17720" y="1417320"/>
            <a:ext cx="20116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61772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764024" y="15636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84년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4764024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유지된 동물실험 의무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764024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1938년 도입 → 2022년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 Modernization Act 2.0 폐지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720840" y="1417320"/>
            <a:ext cx="20116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672084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67144" y="15636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+13.5%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6867144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비동물 대체시험 CAGR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867144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2021 $98M → 2030 $29.4B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신약개발 생산성 시장으로 전환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11480" y="283464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· 비임상 패러다임 전환 타임라인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" y="3401568"/>
            <a:ext cx="7772400" cy="7315"/>
          </a:xfrm>
          <a:prstGeom prst="rect">
            <a:avLst/>
          </a:prstGeom>
          <a:solidFill>
            <a:srgbClr val="E5EAF2"/>
          </a:solidFill>
          <a:ln/>
        </p:spPr>
      </p:sp>
      <p:sp>
        <p:nvSpPr>
          <p:cNvPr id="34" name="Shape 31"/>
          <p:cNvSpPr/>
          <p:nvPr/>
        </p:nvSpPr>
        <p:spPr>
          <a:xfrm>
            <a:off x="685800" y="3401568"/>
            <a:ext cx="7772400" cy="10973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35" name="Shape 32"/>
          <p:cNvSpPr/>
          <p:nvPr/>
        </p:nvSpPr>
        <p:spPr>
          <a:xfrm>
            <a:off x="1408176" y="335584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85800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2022.12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85800" y="3511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Modernization Act 2.0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85800" y="37307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동물실험 의무 폐지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MPS 명시 포함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429000" y="335584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706624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2025.04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2706624" y="3511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mAb 동물실험 폐지 로드맵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2706624" y="37307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AI · 오가노이드 · OoC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도입 명시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449824" y="335584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727448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2025.12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4727448" y="3511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비인간 영장류 축소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4727448" y="37307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PMDA · NIH 동참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규제 정합성↑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470648" y="335584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748272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2026.03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748272" y="3511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NAMs Validation 가이드라인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748272" y="37307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Context of Use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Fit-for-Purpose 4원칙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11480" y="4370832"/>
            <a:ext cx="8321040" cy="329184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2" name="Shape 49"/>
          <p:cNvSpPr/>
          <p:nvPr/>
        </p:nvSpPr>
        <p:spPr>
          <a:xfrm>
            <a:off x="411480" y="4370832"/>
            <a:ext cx="54864" cy="3291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76072" y="4370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줄 결론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600200" y="4443984"/>
            <a:ext cx="7315" cy="182880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709928" y="43708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비임상 대체기술 = 윤리 시장이 아니라 신약개발 생산성 시장으로 전환 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01 · MARKET SHIFT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OoC가 비임상 대체기술 중 핵심 포지션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성숙도는 중간이지만 규제 수용성과 인체 예측력에서 압도적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03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484632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484632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15453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MATRIX · MATURITY × REGULATORY RELEVANCE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0" y="4114800"/>
            <a:ext cx="4114800" cy="10973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1874520"/>
            <a:ext cx="10973" cy="22402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2994660"/>
            <a:ext cx="411480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8" name="Shape 15"/>
          <p:cNvSpPr/>
          <p:nvPr/>
        </p:nvSpPr>
        <p:spPr>
          <a:xfrm>
            <a:off x="2971800" y="1874520"/>
            <a:ext cx="7315" cy="224028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1746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REGULATORY RELEVANCE →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MARKET MATURITY →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293108" y="3323844"/>
            <a:ext cx="237744" cy="23774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771900" y="32232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2D Cell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049524" y="2754630"/>
            <a:ext cx="256032" cy="25603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628900" y="249859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Organoid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656332" y="3108960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857500" y="3054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/ In-Silico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189988" y="2045970"/>
            <a:ext cx="329184" cy="32918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8" name="Shape 25"/>
          <p:cNvSpPr/>
          <p:nvPr/>
        </p:nvSpPr>
        <p:spPr>
          <a:xfrm>
            <a:off x="2144268" y="2000250"/>
            <a:ext cx="420624" cy="42062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9" name="Shape 26"/>
          <p:cNvSpPr/>
          <p:nvPr/>
        </p:nvSpPr>
        <p:spPr>
          <a:xfrm>
            <a:off x="2189988" y="2045970"/>
            <a:ext cx="329184" cy="32918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500884" y="211912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Organ-on-Chip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572768" y="3360420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380744" y="32415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Bio-printing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5440680" y="1417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SIGNALS — 시장은 이미 움직이는 중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40680" y="1709928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2"/>
          <p:cNvSpPr/>
          <p:nvPr/>
        </p:nvSpPr>
        <p:spPr>
          <a:xfrm>
            <a:off x="5440680" y="1709928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586984" y="17647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28~30%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586984" y="20391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시장 CAGR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586984" y="21671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Stratview · KBV · Research Dive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440680" y="2368296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5440680" y="2368296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586984" y="2423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2,134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5586984" y="2697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PubMed OoC 논문 (2015~26)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586984" y="28254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한국 점유율 7.7% (164건)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440680" y="3026664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2"/>
          <p:cNvSpPr/>
          <p:nvPr/>
        </p:nvSpPr>
        <p:spPr>
          <a:xfrm>
            <a:off x="5440680" y="3026664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586984" y="3081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ISTAND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5586984" y="33558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 Liver-Chip 진입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5586984" y="34838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 정식 적격성 평가 단계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5440680" y="3685032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Shape 47"/>
          <p:cNvSpPr/>
          <p:nvPr/>
        </p:nvSpPr>
        <p:spPr>
          <a:xfrm>
            <a:off x="5440680" y="3685032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586984" y="37398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$650~700M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5586984" y="40142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2028 글로벌 OoC 매출 전망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5586984" y="41422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전임상 CRO ($8.4B) 대비 8%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411480" y="4526280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5" name="Shape 52"/>
          <p:cNvSpPr/>
          <p:nvPr/>
        </p:nvSpPr>
        <p:spPr>
          <a:xfrm>
            <a:off x="411480" y="4526280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76072" y="4526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417320" y="4590288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1527048" y="4526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= 향후 high-trust 전임상 데이터의 표준 플랫폼이 될 가능성 가장 큼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02 · CURRENT PROBLEM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OoC 시장의 4대 미해결 한계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수요는 명확하지만 industrial-grade 플랫폼은 부재 — 진입 기회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04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4069080" cy="11658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36576" cy="1165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6072" y="1527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15819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SAMPLE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76072" y="183794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샘플량 부족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2167128"/>
            <a:ext cx="373989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 면적 0.6~17mm² 수준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 가능한 세포 수 한계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반복 분석 시 데이터 신뢰성↓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417320"/>
            <a:ext cx="4069080" cy="11658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4663440" y="1417320"/>
            <a:ext cx="36576" cy="1165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28032" y="1527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376672" y="15819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STABILITY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183794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유량 불안정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2167128"/>
            <a:ext cx="373989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공기압·중력 기반 → 정밀제어 한계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 실험 시 농도 편차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ADME 모사 정확도 저하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2766060"/>
            <a:ext cx="4069080" cy="11658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11480" y="2766060"/>
            <a:ext cx="36576" cy="1165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76072" y="28757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124712" y="29306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318668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재현성 결여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94360" y="3515868"/>
            <a:ext cx="373989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 간·랏 간 데이터 편차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Validation 데이터 부재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ISTAND 통과 기준 미충족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63440" y="2766060"/>
            <a:ext cx="4069080" cy="11658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4663440" y="2766060"/>
            <a:ext cx="36576" cy="1165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28032" y="28757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376672" y="29306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USABILITY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4828032" y="318668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분석 통합 미비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846320" y="3515868"/>
            <a:ext cx="373989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분석장비와 호환성 낮음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End-to-End workflow 부재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전문 운영 인력 의존도↑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11480" y="4114800"/>
            <a:ext cx="8321040" cy="329184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7" name="Shape 34"/>
          <p:cNvSpPr/>
          <p:nvPr/>
        </p:nvSpPr>
        <p:spPr>
          <a:xfrm>
            <a:off x="411480" y="4114800"/>
            <a:ext cx="54864" cy="3291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76072" y="4114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417320" y="4187952"/>
            <a:ext cx="7315" cy="182880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527048" y="41148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수요 ✓ · 솔루션 부재 → industrial-grade 플랫폼이 시장 표준을 가져간다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02 · WHY BIOSPERO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BioSpero — 비임상 워크플로우 플랫폼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샘플량 25배↑ · 배양액 6배↑ · 순환식 펌프로 장기 안정성 확보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05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841542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METRIC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53022" y="1417320"/>
            <a:ext cx="1591456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344462" y="1417320"/>
            <a:ext cx="14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 (US)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4477" y="1417320"/>
            <a:ext cx="1591456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35917" y="1417320"/>
            <a:ext cx="14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MIMETAS (NL)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35933" y="1417320"/>
            <a:ext cx="1591456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27373" y="1417320"/>
            <a:ext cx="14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MEPSGEN (KR)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27389" y="1417320"/>
            <a:ext cx="1705131" cy="36576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18829" y="1417320"/>
            <a:ext cx="15222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(KR)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1783080"/>
            <a:ext cx="184154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02920" y="178308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칩 독립 제어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53022" y="178308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307886" y="178308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(가능)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44477" y="178308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899341" y="178308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64 (불가능)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35933" y="178308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90797" y="178308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32 (불가능)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27389" y="178308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082253" y="178308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(가능)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148840"/>
            <a:ext cx="184154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02920" y="214884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배양액 용량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253022" y="214884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307886" y="214884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 mL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844477" y="214884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899341" y="214884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15~90 μL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35933" y="214884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90797" y="214884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500 μL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027389" y="214884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2253" y="214884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 mL ↑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11480" y="2514600"/>
            <a:ext cx="184154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02920" y="251460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유량 방식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53022" y="251460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307886" y="251460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공기압 단방향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844477" y="251460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3899341" y="251460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중력 기반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435933" y="251460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90797" y="251460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공기압 단방향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027389" y="251460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082253" y="251460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연동 펌프 (순환)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11480" y="2880360"/>
            <a:ext cx="184154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02920" y="288036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세포 배양 면적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253022" y="288036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307886" y="288036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17.1 mm²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844477" y="288036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899341" y="288036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0.57 mm²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435933" y="288036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90797" y="288036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1.14 mm²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7027389" y="288036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7082253" y="288036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48 mm² ↑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11480" y="3246120"/>
            <a:ext cx="184154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502920" y="324612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Multi-Organ 확장성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2253022" y="324612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2307886" y="324612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제한적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844477" y="324612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3899341" y="324612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제한적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5435933" y="324612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490797" y="324612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불가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7027389" y="324612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082253" y="324612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가능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7027389" y="1417320"/>
            <a:ext cx="1705131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3" name="Shape 70"/>
          <p:cNvSpPr/>
          <p:nvPr/>
        </p:nvSpPr>
        <p:spPr>
          <a:xfrm>
            <a:off x="411480" y="3840480"/>
            <a:ext cx="2712720" cy="5029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4" name="Shape 71"/>
          <p:cNvSpPr/>
          <p:nvPr/>
        </p:nvSpPr>
        <p:spPr>
          <a:xfrm>
            <a:off x="411480" y="3840480"/>
            <a:ext cx="36576" cy="5029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57784" y="3895344"/>
            <a:ext cx="252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48mm²</a:t>
            </a:r>
            <a:endParaRPr lang="en-US" sz="1600" dirty="0"/>
          </a:p>
        </p:txBody>
      </p:sp>
      <p:sp>
        <p:nvSpPr>
          <p:cNvPr id="76" name="Text 73"/>
          <p:cNvSpPr txBox="1"/>
          <p:nvPr/>
        </p:nvSpPr>
        <p:spPr>
          <a:xfrm>
            <a:off x="557784" y="4151376"/>
            <a:ext cx="252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세포 배양 면적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3215640" y="3840480"/>
            <a:ext cx="2712720" cy="5029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8" name="Shape 75"/>
          <p:cNvSpPr/>
          <p:nvPr/>
        </p:nvSpPr>
        <p:spPr>
          <a:xfrm>
            <a:off x="3215640" y="3840480"/>
            <a:ext cx="36576" cy="5029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3361944" y="3895344"/>
            <a:ext cx="252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3mL</a:t>
            </a:r>
            <a:endParaRPr lang="en-US" sz="1600" dirty="0"/>
          </a:p>
        </p:txBody>
      </p:sp>
      <p:sp>
        <p:nvSpPr>
          <p:cNvPr id="80" name="Text 77"/>
          <p:cNvSpPr txBox="1"/>
          <p:nvPr/>
        </p:nvSpPr>
        <p:spPr>
          <a:xfrm>
            <a:off x="3361944" y="4151376"/>
            <a:ext cx="252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배양액 용량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6019800" y="3840480"/>
            <a:ext cx="2712720" cy="5029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82" name="Shape 79"/>
          <p:cNvSpPr/>
          <p:nvPr/>
        </p:nvSpPr>
        <p:spPr>
          <a:xfrm>
            <a:off x="6019800" y="3840480"/>
            <a:ext cx="36576" cy="5029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6166104" y="3895344"/>
            <a:ext cx="252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Multi-OoC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6166104" y="4151376"/>
            <a:ext cx="252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 연결 확장</a:t>
            </a:r>
            <a:endParaRPr lang="en-US" sz="850" dirty="0"/>
          </a:p>
        </p:txBody>
      </p:sp>
      <p:sp>
        <p:nvSpPr>
          <p:cNvPr id="85" name="Text 82"/>
          <p:cNvSpPr txBox="1"/>
          <p:nvPr/>
        </p:nvSpPr>
        <p:spPr>
          <a:xfrm>
            <a:off x="557784" y="4297680"/>
            <a:ext cx="252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최대 25배 확보 → 반복 분석 가능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3361944" y="4297680"/>
            <a:ext cx="252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동결·희석 문제 최소화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6166104" y="4297680"/>
            <a:ext cx="252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장-간-신장-뇌 ADME 전 과정 모사</a:t>
            </a:r>
            <a:endParaRPr lang="en-US" sz="750" dirty="0"/>
          </a:p>
        </p:txBody>
      </p:sp>
      <p:sp>
        <p:nvSpPr>
          <p:cNvPr id="88" name="Shape 85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89" name="Shape 86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576072" y="4498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1417320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1527048" y="4498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샘플량·유량·확장성 3축에서 글로벌 경쟁사 대비 명확한 우위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02 · BUSINESS MODEL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장비 기업이 아니다 — 비임상 데이터 플랫폼으로 진화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Hardware 단일 매출에서 반복·서비스·데이터로 가치 사다리 이동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06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508760"/>
            <a:ext cx="1591056" cy="1691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9496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HARDWARE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장비 판매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OrganXpert M / O / 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프리미엄 가격, 초기 고객 확보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07108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19" name="Shape 16"/>
          <p:cNvSpPr/>
          <p:nvPr/>
        </p:nvSpPr>
        <p:spPr>
          <a:xfrm>
            <a:off x="2093976" y="1508760"/>
            <a:ext cx="1591056" cy="1691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2093976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221992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221992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CONSUMABLES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2221992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Chip 반복매출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221992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세포포함칩 + SOP 키트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장비 1대당 연 수십 회 구매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89604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26" name="Shape 23"/>
          <p:cNvSpPr/>
          <p:nvPr/>
        </p:nvSpPr>
        <p:spPr>
          <a:xfrm>
            <a:off x="3776472" y="1508760"/>
            <a:ext cx="1591056" cy="169164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3776472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904488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904488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SERVICE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3904488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CRO 실험 서비스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904488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BiolabXpert 화합물 평가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IND 데이터 패키지 납품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372100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33" name="Shape 30"/>
          <p:cNvSpPr/>
          <p:nvPr/>
        </p:nvSpPr>
        <p:spPr>
          <a:xfrm>
            <a:off x="5458968" y="1508760"/>
            <a:ext cx="1591056" cy="169164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34" name="Shape 31"/>
          <p:cNvSpPr/>
          <p:nvPr/>
        </p:nvSpPr>
        <p:spPr>
          <a:xfrm>
            <a:off x="5458968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586984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586984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5586984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데이터 패키지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586984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약물 반응 데이터셋 라이선싱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FDA·MFDS 제출 표준화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054596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40" name="Shape 37"/>
          <p:cNvSpPr/>
          <p:nvPr/>
        </p:nvSpPr>
        <p:spPr>
          <a:xfrm>
            <a:off x="7141464" y="1508760"/>
            <a:ext cx="1591056" cy="169164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41" name="Shape 38"/>
          <p:cNvSpPr/>
          <p:nvPr/>
        </p:nvSpPr>
        <p:spPr>
          <a:xfrm>
            <a:off x="7141464" y="1508760"/>
            <a:ext cx="1591056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269480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05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269480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PLATFORM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7269480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AI 플랫폼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269480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축적 데이터 + ML 예측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Assay Kit화 · 네트워크 효과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41148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장기 수익 비중 (2030 기준 추정)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11480" y="3749040"/>
            <a:ext cx="2496312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66344" y="374904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30%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2907792" y="3749040"/>
            <a:ext cx="2329891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962656" y="3749040"/>
            <a:ext cx="2220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소모품 28%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237683" y="3749040"/>
            <a:ext cx="166420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5292547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20%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901891" y="3749040"/>
            <a:ext cx="1164946" cy="27432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956755" y="3749040"/>
            <a:ext cx="1055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14%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066837" y="3749040"/>
            <a:ext cx="665683" cy="27432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8121701" y="3749040"/>
            <a:ext cx="555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플랫폼 8%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8" name="Shape 55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76072" y="4498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417320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527048" y="4498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장기적으로 중요한 것은 반복 데이터 + 서비스 매출 — 장비는 진입 게이트일 뿐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03 · GO-GLOBAL STRATEGY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일본 → 유럽 → 미국 — Validation 우회 진출 전략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미국 선진입 X · 일본·유럽에서 검증 데이터 축적 → 미국 ISTAND 진입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07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2682240" cy="283464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268224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" y="1563624"/>
            <a:ext cx="238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1순위 / 즉시 실행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" y="1874520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JAPAN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" y="2185416"/>
            <a:ext cx="238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첫 상업화 레퍼런스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7784" y="2496312"/>
            <a:ext cx="2389632" cy="10973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7784" y="2587752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TIMING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" y="2715768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2026 Q2~Q4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57784" y="28803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PARTNER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" y="30083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SPI 독점 유통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(Daiichi-Sankyo · Eisai · Astellas)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57784" y="33375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GOAL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" y="34655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Top 10 제약사 검증 → 장비 + 소모품 반복 매출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57784" y="37947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LOGIC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" y="3922776"/>
            <a:ext cx="238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Pre-Marketing 검증 완료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PMDA가 ICH·MFDS와 유사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102864" y="2706624"/>
            <a:ext cx="118872" cy="256032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28" name="Shape 25"/>
          <p:cNvSpPr/>
          <p:nvPr/>
        </p:nvSpPr>
        <p:spPr>
          <a:xfrm>
            <a:off x="3230880" y="1417320"/>
            <a:ext cx="2682240" cy="2834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3230880" y="1417320"/>
            <a:ext cx="268224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377184" y="1563624"/>
            <a:ext cx="238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2순위 / 18~24개월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3377184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3944112" y="1874520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EUROPE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377184" y="2185416"/>
            <a:ext cx="238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Validation 데이터 · 논문화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377184" y="2496312"/>
            <a:ext cx="2389632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377184" y="2587752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TIMING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3377184" y="2715768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2026 Q3~2027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3377184" y="28803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PARTNER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3377184" y="30083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Institut Pasteur (15팀)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Novalix · BRUKER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3377184" y="33375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GOAL</a:t>
            </a:r>
            <a:endParaRPr lang="en-US" sz="700" dirty="0"/>
          </a:p>
        </p:txBody>
      </p:sp>
      <p:sp>
        <p:nvSpPr>
          <p:cNvPr id="40" name="Text 37"/>
          <p:cNvSpPr txBox="1"/>
          <p:nvPr/>
        </p:nvSpPr>
        <p:spPr>
          <a:xfrm>
            <a:off x="3377184" y="34655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EU 동물실험 대체 정책 선도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KOL 논문 + CE 인증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3377184" y="37947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LOGIC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3377184" y="3922776"/>
            <a:ext cx="238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사회적 합의 + 규제 압력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세계 최고 수준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2264" y="2706624"/>
            <a:ext cx="118872" cy="256032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44" name="Shape 41"/>
          <p:cNvSpPr/>
          <p:nvPr/>
        </p:nvSpPr>
        <p:spPr>
          <a:xfrm>
            <a:off x="6050280" y="1417320"/>
            <a:ext cx="2682240" cy="2834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2"/>
          <p:cNvSpPr/>
          <p:nvPr/>
        </p:nvSpPr>
        <p:spPr>
          <a:xfrm>
            <a:off x="6050280" y="1417320"/>
            <a:ext cx="268224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196584" y="1563624"/>
            <a:ext cx="238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3순위 / 12~18개월 병행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6196584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6763512" y="1874520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US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6196584" y="2185416"/>
            <a:ext cx="238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FDA ISTAND · 글로벌 표준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196584" y="2496312"/>
            <a:ext cx="2389632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196584" y="2587752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TIMING</a:t>
            </a:r>
            <a:endParaRPr lang="en-US" sz="700" dirty="0"/>
          </a:p>
        </p:txBody>
      </p:sp>
      <p:sp>
        <p:nvSpPr>
          <p:cNvPr id="52" name="Text 49"/>
          <p:cNvSpPr txBox="1"/>
          <p:nvPr/>
        </p:nvSpPr>
        <p:spPr>
          <a:xfrm>
            <a:off x="6196584" y="2715768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2026 Q3~2028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6196584" y="28803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PARTNER</a:t>
            </a:r>
            <a:endParaRPr lang="en-US" sz="700" dirty="0"/>
          </a:p>
        </p:txBody>
      </p:sp>
      <p:sp>
        <p:nvSpPr>
          <p:cNvPr id="54" name="Text 51"/>
          <p:cNvSpPr txBox="1"/>
          <p:nvPr/>
        </p:nvSpPr>
        <p:spPr>
          <a:xfrm>
            <a:off x="6196584" y="30083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Children's Hospital LA (NDA 체결)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Raritan Valley College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6196584" y="33375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196584" y="34655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Kidney-Chip PoC → CRO 파트너십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FDA ISTAND Letter of Intent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6196584" y="37947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LOGIC</a:t>
            </a:r>
            <a:endParaRPr lang="en-US" sz="700" dirty="0"/>
          </a:p>
        </p:txBody>
      </p:sp>
      <p:sp>
        <p:nvSpPr>
          <p:cNvPr id="58" name="Text 55"/>
          <p:cNvSpPr txBox="1"/>
          <p:nvPr/>
        </p:nvSpPr>
        <p:spPr>
          <a:xfrm>
            <a:off x="6196584" y="3922776"/>
            <a:ext cx="238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Modernization Act 2.0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NAMs 가이드라인 가속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76072" y="4498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1417320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527048" y="4498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일본 SPI 서명 + 첫 IND 납품 = 글로벌 진출의 증명 포인트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03 · EXECUTION ROADMAP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2026 → 2029 — Multi-Lane 실행 로드맵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핵심 과제는 기술개발이 아닌 Validation Data 축적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08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00584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TRACK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4173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173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2461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2027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749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2028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037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2029+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1746504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746504"/>
            <a:ext cx="36576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7465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JAPAN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417320" y="1746504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5087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6550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SPI 독점계약 서명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제품 납품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46120" y="1746504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9" name="Shape 26"/>
          <p:cNvSpPr/>
          <p:nvPr/>
        </p:nvSpPr>
        <p:spPr>
          <a:xfrm>
            <a:off x="33375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838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Top 10 제약사 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2~3개사 유료계약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074920" y="1746504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1663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3126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소모품 반복매출 안정화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 10개사 이상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903720" y="1746504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35" name="Shape 32"/>
          <p:cNvSpPr/>
          <p:nvPr/>
        </p:nvSpPr>
        <p:spPr>
          <a:xfrm>
            <a:off x="69951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1414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PMDA 데이터 축적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표준화 참여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2313432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5"/>
          <p:cNvSpPr/>
          <p:nvPr/>
        </p:nvSpPr>
        <p:spPr>
          <a:xfrm>
            <a:off x="411480" y="2313432"/>
            <a:ext cx="36576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21208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EUROPE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417320" y="2313432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5087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6550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Pasteur MOU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Novalix·BRUKER 협력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46120" y="2313432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44" name="Shape 41"/>
          <p:cNvSpPr/>
          <p:nvPr/>
        </p:nvSpPr>
        <p:spPr>
          <a:xfrm>
            <a:off x="33375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4838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유럽 제약사 3~5개사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 솔루션 런칭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074920" y="2313432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51663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3126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CE 인증 착수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전시회 독립 참가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903720" y="2313432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50" name="Shape 47"/>
          <p:cNvSpPr/>
          <p:nvPr/>
        </p:nvSpPr>
        <p:spPr>
          <a:xfrm>
            <a:off x="69951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1414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EMA NAMs 참여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유통사 정식 계약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11480" y="2880360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880360"/>
            <a:ext cx="36576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21208" y="2880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US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417320" y="288036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15087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6550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Children's Hospital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Kidney-Chip PoC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3246120" y="2880360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59" name="Shape 56"/>
          <p:cNvSpPr/>
          <p:nvPr/>
        </p:nvSpPr>
        <p:spPr>
          <a:xfrm>
            <a:off x="33375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34838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KOL 논문 1편↑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CRO 1개 협의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074920" y="288036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59"/>
          <p:cNvSpPr/>
          <p:nvPr/>
        </p:nvSpPr>
        <p:spPr>
          <a:xfrm>
            <a:off x="51663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53126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ISTAND 사전 미팅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미국 법인 운영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903720" y="2880360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65" name="Shape 62"/>
          <p:cNvSpPr/>
          <p:nvPr/>
        </p:nvSpPr>
        <p:spPr>
          <a:xfrm>
            <a:off x="69951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71414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ISTAND LoI 제출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등록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11480" y="3447288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480" y="3447288"/>
            <a:ext cx="36576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21208" y="34472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417320" y="3447288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8"/>
          <p:cNvSpPr/>
          <p:nvPr/>
        </p:nvSpPr>
        <p:spPr>
          <a:xfrm>
            <a:off x="1508760" y="3538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6550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OrganXpert Pro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(n=12) 출시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3246120" y="3447288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4" name="Shape 71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4838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OrganXpert-BBB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Liver 출시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5074920" y="3447288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4"/>
          <p:cNvSpPr/>
          <p:nvPr/>
        </p:nvSpPr>
        <p:spPr>
          <a:xfrm>
            <a:off x="5166360" y="3538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53126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Embodied OrganXpert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(100+ 칩) 출시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6903720" y="3447288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80" name="Shape 77"/>
          <p:cNvSpPr/>
          <p:nvPr/>
        </p:nvSpPr>
        <p:spPr>
          <a:xfrm>
            <a:off x="6995160" y="35387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71414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통합 플랫폼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멀티오믹스 연동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1435608" y="4105656"/>
            <a:ext cx="1792224" cy="2011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14904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Phase 0–1 · 시장 검증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3264408" y="4105656"/>
            <a:ext cx="1792224" cy="20116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33192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Phase 2 · 매출 확대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5093208" y="4105656"/>
            <a:ext cx="1792224" cy="201168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51480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Phase 3 · 규제 인증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6922008" y="4105656"/>
            <a:ext cx="1792224" cy="20116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69768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 확장 · IPO</a:t>
            </a:r>
            <a:endParaRPr lang="en-US" sz="800" dirty="0"/>
          </a:p>
        </p:txBody>
      </p:sp>
      <p:sp>
        <p:nvSpPr>
          <p:cNvPr id="90" name="Shape 87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91" name="Shape 88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76072" y="4498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1417320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1527048" y="4498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기술개발 &lt; Validation Data 축적 — 데이터 모트가 진짜 경쟁력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04 · RISKS &amp; RECOMMENDATION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핵심 리스크 4가지와 대응 전략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장비 판매만으로는 성장 한계 — 서비스·데이터 BM 강화 필수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09 /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411480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411480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1545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RISK MATRIX · LIKELIHOOD × IMPACT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0" y="1874520"/>
            <a:ext cx="1691640" cy="8915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1874520"/>
            <a:ext cx="1691640" cy="891540"/>
          </a:xfrm>
          <a:prstGeom prst="rect">
            <a:avLst/>
          </a:prstGeom>
          <a:solidFill>
            <a:srgbClr val="FFF1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2766060"/>
            <a:ext cx="1691640" cy="8915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2606040" y="2766060"/>
            <a:ext cx="1691640" cy="89154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19" name="Shape 16"/>
          <p:cNvSpPr/>
          <p:nvPr/>
        </p:nvSpPr>
        <p:spPr>
          <a:xfrm>
            <a:off x="914400" y="3657600"/>
            <a:ext cx="3383280" cy="10973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" y="1874520"/>
            <a:ext cx="10973" cy="1783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400" y="2766060"/>
            <a:ext cx="338328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2" name="Shape 19"/>
          <p:cNvSpPr/>
          <p:nvPr/>
        </p:nvSpPr>
        <p:spPr>
          <a:xfrm>
            <a:off x="2606040" y="1874520"/>
            <a:ext cx="7315" cy="178308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17282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IMPACT →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3703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LIKELIHOOD →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72284" y="197739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272284" y="19773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88766" y="251231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388766" y="25123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610612" y="233400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610612" y="2334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25596" y="2244852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625596" y="22448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764792" y="188823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764792" y="18882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7216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RISK INDEX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94360" y="39227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0664" y="388620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R1 · FDA Validation 미통과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468880" y="39227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615184" y="388620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R2 · 경쟁 심화 (Emulate)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94360" y="40873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40664" y="4050792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R3 · 고객 전환 지연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468880" y="40873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615184" y="4050792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R4 · 인력 부족 (현 11명)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94360" y="42519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40664" y="4215384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R5 · SPI 계약 지연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4709160" y="1417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MITIGATION · 대응 전략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09160" y="1709928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5"/>
          <p:cNvSpPr/>
          <p:nvPr/>
        </p:nvSpPr>
        <p:spPr>
          <a:xfrm>
            <a:off x="4709160" y="1709928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855464" y="174650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REGULATION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855464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ISTAND 조기 참여 + OECD TG 등재 가속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KOL 논문으로 87% 독성 식별 데이터 재현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709160" y="2221992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Shape 49"/>
          <p:cNvSpPr/>
          <p:nvPr/>
        </p:nvSpPr>
        <p:spPr>
          <a:xfrm>
            <a:off x="4709160" y="2221992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855464" y="22585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COMPETITION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4855464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 공략 불가 영역 집중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아시아 특이질환 · Multi-OoC · 가격 접근성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709160" y="2734056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Shape 53"/>
          <p:cNvSpPr/>
          <p:nvPr/>
        </p:nvSpPr>
        <p:spPr>
          <a:xfrm>
            <a:off x="4709160" y="2734056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855464" y="27706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ADOPTION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4855464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PoC 무상 제공 → 데이터 모트 구축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공동연구 기반 신뢰 점진 축적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709160" y="3246120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7"/>
          <p:cNvSpPr/>
          <p:nvPr/>
        </p:nvSpPr>
        <p:spPr>
          <a:xfrm>
            <a:off x="4709160" y="3246120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855464" y="32826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CAPACITY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4855464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투자금 40% 영업·기술 인력 충원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SPI 현지 영업 + 본사 기술지원 분담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4709160" y="3758184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Shape 61"/>
          <p:cNvSpPr/>
          <p:nvPr/>
        </p:nvSpPr>
        <p:spPr>
          <a:xfrm>
            <a:off x="4709160" y="3758184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855464" y="37947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BM SHIFT</a:t>
            </a: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4855464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단일 매출 한계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BiolabXpert CRO 서비스 강화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76072" y="4498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INSIGHT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1417320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527048" y="4498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리스크는 명확 · 대응책도 명확 — 핵심은 실행 속도와 데이터 우선순위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292608"/>
            <a:ext cx="1371600" cy="566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"/>
            <a:ext cx="1188720" cy="4480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4114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04 · FINAL CONCLUSION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713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OoC 시장은 구조적 성장 국면 · BioSpero는 commercialization 단계 진입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457200" cy="1828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80160"/>
            <a:ext cx="8321040" cy="7315"/>
          </a:xfrm>
          <a:prstGeom prst="rect">
            <a:avLst/>
          </a:prstGeom>
          <a:solidFill>
            <a:srgbClr val="1A365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778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1498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WHY NOW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임상 실패율 93%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 Mod Act 2.0 + NAMs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1460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5" name="Shape 12"/>
          <p:cNvSpPr/>
          <p:nvPr/>
        </p:nvSpPr>
        <p:spPr>
          <a:xfrm>
            <a:off x="251460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66090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11810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WHY BIOSPERO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66090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샘플량 25배·배양액 6배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순환식 펌프 안정성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1772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0" name="Shape 17"/>
          <p:cNvSpPr/>
          <p:nvPr/>
        </p:nvSpPr>
        <p:spPr>
          <a:xfrm>
            <a:off x="461772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6402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2122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GO-GLOBAL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76402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일본 SPI → 유럽 검증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미국 FDA ISTAND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72084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5" name="Shape 22"/>
          <p:cNvSpPr/>
          <p:nvPr/>
        </p:nvSpPr>
        <p:spPr>
          <a:xfrm>
            <a:off x="672084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6714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2434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GROWTH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86714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장비 → 소모품 → 서비스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데이터 → 플랫폼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26517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FINAL FORMULA — BioSpero가 향하는 본질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1" name="Shape 28"/>
          <p:cNvSpPr/>
          <p:nvPr/>
        </p:nvSpPr>
        <p:spPr>
          <a:xfrm>
            <a:off x="41148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771650" y="2962656"/>
            <a:ext cx="228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00025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5" name="Shape 32"/>
          <p:cNvSpPr/>
          <p:nvPr/>
        </p:nvSpPr>
        <p:spPr>
          <a:xfrm>
            <a:off x="200025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00025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Consumables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3360420" y="2962656"/>
            <a:ext cx="228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58902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9" name="Shape 36"/>
          <p:cNvSpPr/>
          <p:nvPr/>
        </p:nvSpPr>
        <p:spPr>
          <a:xfrm>
            <a:off x="358902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58902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Service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949190" y="2962656"/>
            <a:ext cx="228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17779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43" name="Shape 40"/>
          <p:cNvSpPr/>
          <p:nvPr/>
        </p:nvSpPr>
        <p:spPr>
          <a:xfrm>
            <a:off x="517779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17779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Data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537960" y="296265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6903720" y="2962656"/>
            <a:ext cx="1828800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903720" y="30540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Nonclinical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Platform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11480" y="3840480"/>
            <a:ext cx="8321040" cy="566928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49" name="Shape 46"/>
          <p:cNvSpPr/>
          <p:nvPr/>
        </p:nvSpPr>
        <p:spPr>
          <a:xfrm>
            <a:off x="411480" y="3840480"/>
            <a:ext cx="54864" cy="56692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7607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줄 결론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5760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BioSpero의 경쟁력은 chip이 아니라 글로벌 제약사가 신뢰하는 데이터를 얼마나 빠르게 축적하는가에 달려 있다.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411480" y="4617720"/>
            <a:ext cx="8321040" cy="7315"/>
          </a:xfrm>
          <a:prstGeom prst="rect">
            <a:avLst/>
          </a:prstGeom>
          <a:solidFill>
            <a:srgbClr val="1A365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11480" y="47183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FA9C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(주)바이오스페로 · Global Strategy 2026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7223760" y="47183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10 — END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2026-05-08T13:58:40Z</dcterms:created>
  <dcterms:modified xsi:type="dcterms:W3CDTF">2026-05-08T13:58:40Z</dcterms:modified>
</cp:coreProperties>
</file>