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560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TECH DEEP DIVE · 01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2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약물은 한 장기에서 끝나지 않는다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932688"/>
            <a:ext cx="8412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6708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OoC의 효용은 단일 장기 구현보다 흡수-대사-작용-배출을 연결해 임상 전 예측력을 높이는 데서 커진다.</a:t>
            </a:r>
            <a:endParaRPr lang="en-US" sz="980" dirty="0"/>
          </a:p>
        </p:txBody>
      </p:sp>
      <p:sp>
        <p:nvSpPr>
          <p:cNvPr id="5" name="Text 3"/>
          <p:cNvSpPr/>
          <p:nvPr/>
        </p:nvSpPr>
        <p:spPr>
          <a:xfrm>
            <a:off x="9784080" y="347472"/>
            <a:ext cx="17830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0F22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BioSpero · OoC Strategy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502920" y="1170432"/>
            <a:ext cx="10927080" cy="13716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170432"/>
            <a:ext cx="1325880" cy="32004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72768"/>
            <a:ext cx="2029968" cy="1874520"/>
          </a:xfrm>
          <a:prstGeom prst="rect">
            <a:avLst/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572768"/>
            <a:ext cx="2029968" cy="310896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2002536"/>
            <a:ext cx="181051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2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장 / Intestine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" y="2331720"/>
            <a:ext cx="181051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흡수·장벽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2648" y="2633472"/>
            <a:ext cx="1810512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2271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가능 영역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12648" y="2916936"/>
            <a:ext cx="181051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경구약 흡수와 장벽 투과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2551176" y="2514600"/>
            <a:ext cx="118872" cy="0"/>
          </a:xfrm>
          <a:prstGeom prst="line">
            <a:avLst/>
          </a:prstGeom>
          <a:noFill/>
          <a:ln w="29210">
            <a:solidFill>
              <a:srgbClr val="1C69D4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688336" y="1572768"/>
            <a:ext cx="2029968" cy="1874520"/>
          </a:xfrm>
          <a:prstGeom prst="rect">
            <a:avLst/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88336" y="1572768"/>
            <a:ext cx="2029968" cy="310896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98064" y="2002536"/>
            <a:ext cx="181051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2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간 / Liver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98064" y="2331720"/>
            <a:ext cx="181051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대사·간독성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98064" y="2633472"/>
            <a:ext cx="1810512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2271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핵심/출시 계획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798064" y="2916936"/>
            <a:ext cx="181051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DILI·대사체 분석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4736592" y="2514600"/>
            <a:ext cx="118872" cy="0"/>
          </a:xfrm>
          <a:prstGeom prst="line">
            <a:avLst/>
          </a:prstGeom>
          <a:noFill/>
          <a:ln w="29210">
            <a:solidFill>
              <a:srgbClr val="1C69D4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873752" y="1572768"/>
            <a:ext cx="2029968" cy="1874520"/>
          </a:xfrm>
          <a:prstGeom prst="rect">
            <a:avLst/>
          </a:prstGeom>
          <a:solidFill>
            <a:srgbClr val="0F2244"/>
          </a:solidFill>
          <a:ln w="8890">
            <a:solidFill>
              <a:srgbClr val="0F22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73752" y="1572768"/>
            <a:ext cx="2029968" cy="310896"/>
          </a:xfrm>
          <a:prstGeom prst="rect">
            <a:avLst/>
          </a:prstGeom>
          <a:solidFill>
            <a:srgbClr val="E22718"/>
          </a:solidFill>
          <a:ln w="12700">
            <a:solidFill>
              <a:srgbClr val="E2271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2002536"/>
            <a:ext cx="181051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혈관/순환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83480" y="2331720"/>
            <a:ext cx="181051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E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전신 노출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83480" y="2633472"/>
            <a:ext cx="1810512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B8B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연결 개념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983480" y="2916936"/>
            <a:ext cx="181051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농도 유지·반복 노출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6922008" y="2514600"/>
            <a:ext cx="118872" cy="0"/>
          </a:xfrm>
          <a:prstGeom prst="line">
            <a:avLst/>
          </a:prstGeom>
          <a:noFill/>
          <a:ln w="29210">
            <a:solidFill>
              <a:srgbClr val="1C69D4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059168" y="1572768"/>
            <a:ext cx="2029968" cy="1874520"/>
          </a:xfrm>
          <a:prstGeom prst="rect">
            <a:avLst/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59168" y="1572768"/>
            <a:ext cx="2029968" cy="310896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68896" y="2002536"/>
            <a:ext cx="181051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2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뇌 / BBB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168896" y="2331720"/>
            <a:ext cx="181051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중추 투과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68896" y="2633472"/>
            <a:ext cx="1810512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2271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출시 계획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168896" y="2916936"/>
            <a:ext cx="181051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BBB 통과 약물 평가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9107424" y="2514600"/>
            <a:ext cx="118872" cy="0"/>
          </a:xfrm>
          <a:prstGeom prst="line">
            <a:avLst/>
          </a:prstGeom>
          <a:noFill/>
          <a:ln w="29210">
            <a:solidFill>
              <a:srgbClr val="1C69D4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244584" y="1572768"/>
            <a:ext cx="2029968" cy="1874520"/>
          </a:xfrm>
          <a:prstGeom prst="rect">
            <a:avLst/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44584" y="1572768"/>
            <a:ext cx="2029968" cy="310896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54312" y="2002536"/>
            <a:ext cx="181051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2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신장 / Kidney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354312" y="2331720"/>
            <a:ext cx="181051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배출·신독성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354312" y="2633472"/>
            <a:ext cx="1810512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2271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CHLA 공동연구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9354312" y="2916936"/>
            <a:ext cx="181051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IND 전 신독성 패키지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502920" y="3803904"/>
            <a:ext cx="5303520" cy="1691640"/>
          </a:xfrm>
          <a:prstGeom prst="rect">
            <a:avLst/>
          </a:prstGeom>
          <a:solidFill>
            <a:srgbClr val="F4F7FB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3968496"/>
            <a:ext cx="25603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2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현재 자료 기준 BioSpero 구현 범위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85800" y="4343400"/>
            <a:ext cx="4800600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명시/근접 모델: 장·간·신장·뇌/BBB·암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보수적 해석: 심장·폐·위는 현재 핵심 상용 모델로 단정하기 어려움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투자 포인트: “가능성”과 “검증된 고객 데이터”를 분리해 봐야 함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126480" y="3803904"/>
            <a:ext cx="5303520" cy="1691640"/>
          </a:xfrm>
          <a:prstGeom prst="rect">
            <a:avLst/>
          </a:prstGeom>
          <a:solidFill>
            <a:srgbClr val="FCEEEE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09360" y="3968496"/>
            <a:ext cx="25603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2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왜 Multi-OoC가 중요한가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309360" y="4343400"/>
            <a:ext cx="480060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신약 실패는 단일 장기 문제가 아니라 전신 반응 문제다. 장에서 흡수되고, 간에서 대사되며, 뇌/타깃 장기에 작용하고, 신장에서 배출된다. 그래서 다장기 연결은 “임상 전 예측력”의 핵심이다.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02920" y="6245352"/>
            <a:ext cx="10927080" cy="329184"/>
          </a:xfrm>
          <a:prstGeom prst="rect">
            <a:avLst/>
          </a:prstGeom>
          <a:solidFill>
            <a:srgbClr val="0F2244"/>
          </a:solidFill>
          <a:ln w="12700">
            <a:solidFill>
              <a:srgbClr val="0F2244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2920" y="6245352"/>
            <a:ext cx="73152" cy="329184"/>
          </a:xfrm>
          <a:prstGeom prst="rect">
            <a:avLst/>
          </a:prstGeom>
          <a:solidFill>
            <a:srgbClr val="E22718"/>
          </a:solidFill>
          <a:ln w="12700">
            <a:solidFill>
              <a:srgbClr val="E22718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3232" y="6291072"/>
            <a:ext cx="1097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9EC4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핵심메세지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828800" y="6281928"/>
            <a:ext cx="92354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BioSpero는 장·간·신장·뇌/BBB·암 모델을 중심으로 IND 전 검증 워크플로우를 노려야 한다.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560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TECH DEEP DIVE · 02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2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BioSpero 기술 차별성은 “분석 가능한 OoC”에 있다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932688"/>
            <a:ext cx="8412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6708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48mm², 3mL, 순환식 연동펌프는 보기 좋은 스펙이 아니라 CRO 서비스와 데이터 패키지화를 가능하게 하는 조건이다.</a:t>
            </a:r>
            <a:endParaRPr lang="en-US" sz="980" dirty="0"/>
          </a:p>
        </p:txBody>
      </p:sp>
      <p:sp>
        <p:nvSpPr>
          <p:cNvPr id="5" name="Text 3"/>
          <p:cNvSpPr/>
          <p:nvPr/>
        </p:nvSpPr>
        <p:spPr>
          <a:xfrm>
            <a:off x="9784080" y="347472"/>
            <a:ext cx="17830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0F22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BioSpero · OoC Strategy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502920" y="1170432"/>
            <a:ext cx="10927080" cy="13716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170432"/>
            <a:ext cx="1325880" cy="32004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508760"/>
            <a:ext cx="1920240" cy="384048"/>
          </a:xfrm>
          <a:prstGeom prst="rect">
            <a:avLst/>
          </a:prstGeom>
          <a:solidFill>
            <a:srgbClr val="0F2244"/>
          </a:solidFill>
          <a:ln w="12700">
            <a:solidFill>
              <a:srgbClr val="0F2244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00200"/>
            <a:ext cx="17373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기술 포인트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0" y="1508760"/>
            <a:ext cx="2331720" cy="384048"/>
          </a:xfrm>
          <a:prstGeom prst="rect">
            <a:avLst/>
          </a:prstGeom>
          <a:solidFill>
            <a:srgbClr val="0F2244"/>
          </a:solidFill>
          <a:ln w="12700">
            <a:solidFill>
              <a:srgbClr val="0F224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1600200"/>
            <a:ext cx="21488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실험상 의미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92040" y="1508760"/>
            <a:ext cx="2743200" cy="384048"/>
          </a:xfrm>
          <a:prstGeom prst="rect">
            <a:avLst/>
          </a:prstGeom>
          <a:solidFill>
            <a:srgbClr val="0F2244"/>
          </a:solidFill>
          <a:ln w="12700">
            <a:solidFill>
              <a:srgbClr val="0F224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600200"/>
            <a:ext cx="25603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왜 중요한가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635240" y="1508760"/>
            <a:ext cx="2514600" cy="384048"/>
          </a:xfrm>
          <a:prstGeom prst="rect">
            <a:avLst/>
          </a:prstGeom>
          <a:solidFill>
            <a:srgbClr val="0F2244"/>
          </a:solidFill>
          <a:ln w="12700">
            <a:solidFill>
              <a:srgbClr val="0F2244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26680" y="1600200"/>
            <a:ext cx="23317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사업상 의미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1892808"/>
            <a:ext cx="192024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2029968"/>
            <a:ext cx="170078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2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48mm² 배양면적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60320" y="1892808"/>
            <a:ext cx="233172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70048" y="2029968"/>
            <a:ext cx="211226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세포 수·신호량 확보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4892040" y="1892808"/>
            <a:ext cx="274320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01768" y="2029968"/>
            <a:ext cx="252374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LC-MS/ELISA/qPCR 등 후속 분석 여지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7635240" y="1892808"/>
            <a:ext cx="251460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44968" y="2029968"/>
            <a:ext cx="229514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CRO 데이터 패키지화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640080" y="2606040"/>
            <a:ext cx="1920240" cy="713232"/>
          </a:xfrm>
          <a:prstGeom prst="rect">
            <a:avLst/>
          </a:prstGeom>
          <a:solidFill>
            <a:srgbClr val="F4F7FB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2743200"/>
            <a:ext cx="170078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2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3mL 배양액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560320" y="2606040"/>
            <a:ext cx="2331720" cy="713232"/>
          </a:xfrm>
          <a:prstGeom prst="rect">
            <a:avLst/>
          </a:prstGeom>
          <a:solidFill>
            <a:srgbClr val="F4F7FB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70048" y="2743200"/>
            <a:ext cx="211226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반복 샘플링 가능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4892040" y="2606040"/>
            <a:ext cx="2743200" cy="713232"/>
          </a:xfrm>
          <a:prstGeom prst="rect">
            <a:avLst/>
          </a:prstGeom>
          <a:solidFill>
            <a:srgbClr val="F4F7FB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01768" y="2743200"/>
            <a:ext cx="252374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장기 배양·다중 분석 안정성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7635240" y="2606040"/>
            <a:ext cx="2514600" cy="713232"/>
          </a:xfrm>
          <a:prstGeom prst="rect">
            <a:avLst/>
          </a:prstGeom>
          <a:solidFill>
            <a:srgbClr val="F4F7FB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44968" y="2743200"/>
            <a:ext cx="229514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리포트 항목 확장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640080" y="3319272"/>
            <a:ext cx="192024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" y="3456432"/>
            <a:ext cx="170078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2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순환식 연동펌프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560320" y="3319272"/>
            <a:ext cx="233172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70048" y="3456432"/>
            <a:ext cx="211226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약물 농도 유지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4892040" y="3319272"/>
            <a:ext cx="274320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01768" y="3456432"/>
            <a:ext cx="252374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반복투여·대사체 추적·장기 노출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7635240" y="3319272"/>
            <a:ext cx="251460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44968" y="3456432"/>
            <a:ext cx="229514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장기독성 서비스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640080" y="4032504"/>
            <a:ext cx="1920240" cy="713232"/>
          </a:xfrm>
          <a:prstGeom prst="rect">
            <a:avLst/>
          </a:prstGeom>
          <a:solidFill>
            <a:srgbClr val="F4F7FB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9808" y="4169664"/>
            <a:ext cx="170078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2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Multi-OoC 확장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560320" y="4032504"/>
            <a:ext cx="2331720" cy="713232"/>
          </a:xfrm>
          <a:prstGeom prst="rect">
            <a:avLst/>
          </a:prstGeom>
          <a:solidFill>
            <a:srgbClr val="F4F7FB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70048" y="4169664"/>
            <a:ext cx="211226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장기 간 연결</a:t>
            </a:r>
            <a:endParaRPr lang="en-US" sz="1020" dirty="0"/>
          </a:p>
        </p:txBody>
      </p:sp>
      <p:sp>
        <p:nvSpPr>
          <p:cNvPr id="44" name="Shape 42"/>
          <p:cNvSpPr/>
          <p:nvPr/>
        </p:nvSpPr>
        <p:spPr>
          <a:xfrm>
            <a:off x="4892040" y="4032504"/>
            <a:ext cx="2743200" cy="713232"/>
          </a:xfrm>
          <a:prstGeom prst="rect">
            <a:avLst/>
          </a:prstGeom>
          <a:solidFill>
            <a:srgbClr val="F4F7FB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01768" y="4169664"/>
            <a:ext cx="252374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ADME/전신 독성 흐름 모사</a:t>
            </a:r>
            <a:endParaRPr lang="en-US" sz="1020" dirty="0"/>
          </a:p>
        </p:txBody>
      </p:sp>
      <p:sp>
        <p:nvSpPr>
          <p:cNvPr id="46" name="Shape 44"/>
          <p:cNvSpPr/>
          <p:nvPr/>
        </p:nvSpPr>
        <p:spPr>
          <a:xfrm>
            <a:off x="7635240" y="4032504"/>
            <a:ext cx="2514600" cy="713232"/>
          </a:xfrm>
          <a:prstGeom prst="rect">
            <a:avLst/>
          </a:prstGeom>
          <a:solidFill>
            <a:srgbClr val="F4F7FB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44968" y="4169664"/>
            <a:ext cx="229514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IND 전 검증 워크플로우</a:t>
            </a:r>
            <a:endParaRPr lang="en-US" sz="1020" dirty="0"/>
          </a:p>
        </p:txBody>
      </p:sp>
      <p:sp>
        <p:nvSpPr>
          <p:cNvPr id="48" name="Shape 46"/>
          <p:cNvSpPr/>
          <p:nvPr/>
        </p:nvSpPr>
        <p:spPr>
          <a:xfrm>
            <a:off x="640080" y="4800600"/>
            <a:ext cx="3246120" cy="841248"/>
          </a:xfrm>
          <a:prstGeom prst="rect">
            <a:avLst/>
          </a:prstGeom>
          <a:solidFill>
            <a:srgbClr val="FCEEEE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4672" y="4956048"/>
            <a:ext cx="1371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22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경쟁사 대비 의미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804672" y="5230368"/>
            <a:ext cx="27432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Emulate보다 큰 면적, MIMETAS보다 압도적으로 큰 배양량 → “소형 연구칩”보다 “분석 서비스칩”에 가까움</a:t>
            </a:r>
            <a:endParaRPr lang="en-US" sz="920" dirty="0"/>
          </a:p>
        </p:txBody>
      </p:sp>
      <p:sp>
        <p:nvSpPr>
          <p:cNvPr id="51" name="Shape 49"/>
          <p:cNvSpPr/>
          <p:nvPr/>
        </p:nvSpPr>
        <p:spPr>
          <a:xfrm>
            <a:off x="4160520" y="4800600"/>
            <a:ext cx="3246120" cy="841248"/>
          </a:xfrm>
          <a:prstGeom prst="rect">
            <a:avLst/>
          </a:prstGeom>
          <a:solidFill>
            <a:srgbClr val="F4F7FB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25112" y="4956048"/>
            <a:ext cx="1371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22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검증 필요 지점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4325112" y="5230368"/>
            <a:ext cx="27432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펌프 장시간 안정성, 기포·튜빙 흡착, 유량 편차, 장기별 SOP 재현성은 고객 PoC에서 반드시 확인</a:t>
            </a:r>
            <a:endParaRPr lang="en-US" sz="920" dirty="0"/>
          </a:p>
        </p:txBody>
      </p:sp>
      <p:sp>
        <p:nvSpPr>
          <p:cNvPr id="54" name="Shape 52"/>
          <p:cNvSpPr/>
          <p:nvPr/>
        </p:nvSpPr>
        <p:spPr>
          <a:xfrm>
            <a:off x="7680960" y="4800600"/>
            <a:ext cx="3246120" cy="841248"/>
          </a:xfrm>
          <a:prstGeom prst="rect">
            <a:avLst/>
          </a:prstGeom>
          <a:solidFill>
            <a:srgbClr val="0F2244"/>
          </a:solidFill>
          <a:ln w="12700">
            <a:solidFill>
              <a:srgbClr val="0F2244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845552" y="4956048"/>
            <a:ext cx="1463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투자 판단 질문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7845552" y="5230368"/>
            <a:ext cx="27432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첫 IND 데이터 패키지에 실제 활용 가능한가? 일본 SPI 유상 PoC에서 고객이 돈을 냈는가?</a:t>
            </a:r>
            <a:endParaRPr lang="en-US" sz="920" dirty="0"/>
          </a:p>
        </p:txBody>
      </p:sp>
      <p:sp>
        <p:nvSpPr>
          <p:cNvPr id="57" name="Shape 55"/>
          <p:cNvSpPr/>
          <p:nvPr/>
        </p:nvSpPr>
        <p:spPr>
          <a:xfrm>
            <a:off x="502920" y="6245352"/>
            <a:ext cx="10927080" cy="329184"/>
          </a:xfrm>
          <a:prstGeom prst="rect">
            <a:avLst/>
          </a:prstGeom>
          <a:solidFill>
            <a:srgbClr val="0F2244"/>
          </a:solidFill>
          <a:ln w="12700">
            <a:solidFill>
              <a:srgbClr val="0F2244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02920" y="6245352"/>
            <a:ext cx="73152" cy="329184"/>
          </a:xfrm>
          <a:prstGeom prst="rect">
            <a:avLst/>
          </a:prstGeom>
          <a:solidFill>
            <a:srgbClr val="E22718"/>
          </a:solidFill>
          <a:ln w="12700">
            <a:solidFill>
              <a:srgbClr val="E22718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3232" y="6291072"/>
            <a:ext cx="1097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9EC4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핵심메세지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828800" y="6281928"/>
            <a:ext cx="92354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기술 우위의 본질은 “크다”가 아니라, 반복 측정 가능한 시료와 장기 안정성을 통해 고객이 쓸 데이터를 만든다는 점이다.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Gravity Ventures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BioSpero OoC Technology Deep Dive</dc:title>
  <dc:subject>BioSpero Technology Deep Dive Addendum</dc:subject>
  <dc:creator>Gravity Ventures</dc:creator>
  <cp:lastModifiedBy>Gravity Ventures</cp:lastModifiedBy>
  <cp:revision>1</cp:revision>
  <dcterms:created xsi:type="dcterms:W3CDTF">2026-05-09T14:08:26Z</dcterms:created>
  <dcterms:modified xsi:type="dcterms:W3CDTF">2026-05-09T14:08:26Z</dcterms:modified>
</cp:coreProperties>
</file>