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딥리서치 적용 결과  · 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분석 — "이렇게 작동했다"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22860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1차 자료 6종을 4단계 분석으로 변환 — OoC 포지션 / BioSpero 경쟁력 / 비즈니스 모델 / 타깃 국가별 전략.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468880" cy="2578608"/>
          </a:xfrm>
          <a:prstGeom prst="rect">
            <a:avLst/>
          </a:prstGeom>
          <a:solidFill>
            <a:srgbClr val="F4F7FB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2468880" cy="29260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투입 자료  ·  INPUTS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719072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71907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규제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664208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Modernization Act 2.0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(S.5002, 2022.12 시행)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912" y="2080260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080260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규제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025396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NAMs Guideline 2026.03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+ mAb 로드맵 2025.04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" y="2441448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2441448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규제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2386584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MFDS 비임상 대체 규정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(2023·2024 개정)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" y="2802636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802636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논문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2747772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PubMed OoC 2,134건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(한국 164·미국 136)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8912" y="3163824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163824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기업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3108960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IR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(기술·BM·로드맵)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" y="3525012"/>
            <a:ext cx="420624" cy="182880"/>
          </a:xfrm>
          <a:prstGeom prst="rect">
            <a:avLst/>
          </a:prstGeom>
          <a:solidFill>
            <a:srgbClr val="0653B6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525012"/>
            <a:ext cx="420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14400" y="3470148"/>
            <a:ext cx="1874520" cy="361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MarketsandMarkets · Grand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View · KBV · Stratview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17520" y="1298448"/>
            <a:ext cx="2834640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1298448"/>
            <a:ext cx="73152" cy="1243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29" name="Text 27"/>
          <p:cNvSpPr/>
          <p:nvPr/>
        </p:nvSpPr>
        <p:spPr>
          <a:xfrm>
            <a:off x="3182112" y="13441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82112" y="1481328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비임상 NAMs 중 OoC 포지션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82112" y="1719072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6대 NAMs 중 생물학적 재현도 ★★★★★ (다장기 통합 유일)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FDA 인정 NAMs 명시 — "organs-on-a-chip" 원문 등재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영구 분업: 스크리닝→검증→규제 (OoC = 최종 관문)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43600" y="1298448"/>
            <a:ext cx="2834640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1298448"/>
            <a:ext cx="73152" cy="1243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4" name="Text 32"/>
          <p:cNvSpPr/>
          <p:nvPr/>
        </p:nvSpPr>
        <p:spPr>
          <a:xfrm>
            <a:off x="6108192" y="134416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8192" y="1481328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BioSpero OoC 기술 경쟁력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08192" y="1719072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 면적 48 mm² — Emulate 17.1 대비 2.8× / MIMETAS 0.57 대비 84×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배양액 3 mL · 순환식 연동 펌프 · Multi-OoC 다장기 확장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간독성(DILI) 예측 87% — 동물 0% / 3D spheroid 47% 대비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17520" y="2633472"/>
            <a:ext cx="2834640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17520" y="2633472"/>
            <a:ext cx="73152" cy="1243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39" name="Text 37"/>
          <p:cNvSpPr/>
          <p:nvPr/>
        </p:nvSpPr>
        <p:spPr>
          <a:xfrm>
            <a:off x="3182112" y="267919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82112" y="281635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주요 비즈니스 모델 (하이브리드)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82112" y="305409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장비(OrganXpert) + 칩 소모품 = "프린터-토너" 반복 매출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BiolabXpert — 차세대 비임상 CRO 서비스 (한국 매출 견인)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매출 로드맵: '25년 5억 → '30년 1,230억 (IPO 타깃)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0" y="2633472"/>
            <a:ext cx="2834640" cy="1243584"/>
          </a:xfrm>
          <a:prstGeom prst="rect">
            <a:avLst/>
          </a:prstGeom>
          <a:solidFill>
            <a:srgbClr val="FFFFFF"/>
          </a:solidFill>
          <a:ln w="7620">
            <a:solidFill>
              <a:srgbClr val="D9DE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2633472"/>
            <a:ext cx="73152" cy="1243584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4" name="Text 42"/>
          <p:cNvSpPr/>
          <p:nvPr/>
        </p:nvSpPr>
        <p:spPr>
          <a:xfrm>
            <a:off x="6108192" y="267919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69D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08192" y="2816352"/>
            <a:ext cx="2578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타깃 국가별 진출 전략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08192" y="3054096"/>
            <a:ext cx="257860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일본 (즉시): SPI 독점 — Top10 제약사 100%, 학술 89%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미국 (12~18개월): CHLA Kidney-Chip + FDA ISTAND 진입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유럽 (18~24개월): Institut Pasteur 15팀 · BRUKER 연동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986784"/>
            <a:ext cx="2743200" cy="5669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8" name="Shape 46"/>
          <p:cNvSpPr/>
          <p:nvPr/>
        </p:nvSpPr>
        <p:spPr>
          <a:xfrm>
            <a:off x="365760" y="3986784"/>
            <a:ext cx="54864" cy="56692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4023360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소요 시간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0352" y="416966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~6 시간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30352" y="4389120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인력 환산 약 3주 작업량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0" y="3986784"/>
            <a:ext cx="2743200" cy="5669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3" name="Shape 51"/>
          <p:cNvSpPr/>
          <p:nvPr/>
        </p:nvSpPr>
        <p:spPr>
          <a:xfrm>
            <a:off x="3200400" y="3986784"/>
            <a:ext cx="54864" cy="56692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4" name="Text 52"/>
          <p:cNvSpPr/>
          <p:nvPr/>
        </p:nvSpPr>
        <p:spPr>
          <a:xfrm>
            <a:off x="3364992" y="4023360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교차 검증 데이터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364992" y="416966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50+ 수치 / 9 출처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364992" y="4389120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수치 ≥ 2 출처 일치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35040" y="3986784"/>
            <a:ext cx="2743200" cy="56692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58" name="Shape 56"/>
          <p:cNvSpPr/>
          <p:nvPr/>
        </p:nvSpPr>
        <p:spPr>
          <a:xfrm>
            <a:off x="6035040" y="3986784"/>
            <a:ext cx="54864" cy="566928"/>
          </a:xfrm>
          <a:prstGeom prst="rect">
            <a:avLst/>
          </a:prstGeom>
          <a:solidFill>
            <a:srgbClr val="1C69D4"/>
          </a:solidFill>
          <a:ln/>
        </p:spPr>
      </p:sp>
      <p:sp>
        <p:nvSpPr>
          <p:cNvPr id="59" name="Text 57"/>
          <p:cNvSpPr/>
          <p:nvPr/>
        </p:nvSpPr>
        <p:spPr>
          <a:xfrm>
            <a:off x="6199632" y="4023360"/>
            <a:ext cx="2542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1차 합의 도달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99632" y="4169664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트리거 6개 도출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199632" y="4389120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가설 8단계 → 의사결정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8412480" cy="457200"/>
          </a:xfrm>
          <a:prstGeom prst="rect">
            <a:avLst/>
          </a:prstGeom>
          <a:solidFill>
            <a:srgbClr val="FCEE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65760" y="4626864"/>
            <a:ext cx="54864" cy="457200"/>
          </a:xfrm>
          <a:prstGeom prst="rect">
            <a:avLst/>
          </a:prstGeom>
          <a:solidFill>
            <a:srgbClr val="E22718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" y="467258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화이트스페이스   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글로벌 OoC 리더가 비어둔 영역 = </a:t>
            </a:r>
            <a:pPr indent="0" marL="0">
              <a:buNone/>
            </a:pPr>
            <a:r>
              <a:rPr lang="en-US" sz="1100" b="1" dirty="0">
                <a:solidFill>
                  <a:srgbClr val="E2271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「일본·아시아 + 대용량(48 mm²) + CRO 서비스 결합」</a:t>
            </a:r>
            <a:pPr indent="0" marL="0">
              <a:buNone/>
            </a:pPr>
            <a:r>
              <a:rPr lang="en-US" sz="1100" dirty="0">
                <a:solidFill>
                  <a:srgbClr val="1C233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 — BioSpero가 단독 점유 가능한 단 하나의 백지(white space).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2026-05-09T06:15:05Z</dcterms:created>
  <dcterms:modified xsi:type="dcterms:W3CDTF">2026-05-09T06:15:05Z</dcterms:modified>
</cp:coreProperties>
</file>